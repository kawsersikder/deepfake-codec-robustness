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0E58A4-950C-4695-85A7-76B431A150F6}">
  <a:tblStyle styleId="{E10E58A4-950C-4695-85A7-76B431A150F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a75d01964_3_75:notes"/>
          <p:cNvSpPr/>
          <p:nvPr>
            <p:ph idx="2" type="sldImg"/>
          </p:nvPr>
        </p:nvSpPr>
        <p:spPr>
          <a:xfrm>
            <a:off x="-6" y="0"/>
            <a:ext cx="3000012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g3fa75d01964_3_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[BOTH PRESENTERS — 0:00-0:40]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Kawser: Good morning. Our project is "Cross-Dataset Generalization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Robustness of Deepfake Detection" — a leave-one-out study with explainability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statistical validation. I am Kawser Sikder.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Tasneem: And I am Tasneem Abdullah Aurnobb. We were supervised by Dr. Riasat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Khan of the ECE department.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Kawser: I will take the introduction, the model, and the transfer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robustness results. Tasneem will take the literature, the data pipeline,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statistical validation.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Total target: 11 minutes.</a:t>
            </a:r>
            <a:endParaRPr/>
          </a:p>
        </p:txBody>
      </p:sp>
      <p:sp>
        <p:nvSpPr>
          <p:cNvPr id="128" name="Google Shape;128;g3fa75d01964_3_7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a75d01964_3_91:notes"/>
          <p:cNvSpPr/>
          <p:nvPr>
            <p:ph idx="2" type="sldImg"/>
          </p:nvPr>
        </p:nvSpPr>
        <p:spPr>
          <a:xfrm>
            <a:off x="-6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g3fa75d01964_3_9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[KAWSER — 0:40-1:50]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Face manipulation is no longer a research curiosity, it is a consumer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capability. Free software plus a handful of public photographs plus 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graphics card gives you a convincing forgery, and those forgeries are used for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non-consensual imagery, financial fraud and political disinformation.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defensive response has been automatic detection, and on the standard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benchmarks it looks solved — modern detectors report over ninety-nine percent.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 success is misleading, because a detector is only useful on a manipulation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 it has never encountered, produced by a tool that did not exist when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 trained.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our objective was deliberately not to add another point of in-domain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accuracy. It was to measure how much skill actually transfers, to explain why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does not, and to test whether the standard fixes work.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headline is on the right: 0.9942 in-domain on Celeb-DF, 0.7650 on a corpus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model never saw. A gap of 0.229. The rest of this talk is about that gap.</a:t>
            </a:r>
            <a:endParaRPr/>
          </a:p>
        </p:txBody>
      </p:sp>
      <p:sp>
        <p:nvSpPr>
          <p:cNvPr id="144" name="Google Shape;144;g3fa75d01964_3_9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a75d01964_3_122:notes"/>
          <p:cNvSpPr/>
          <p:nvPr>
            <p:ph idx="2" type="sldImg"/>
          </p:nvPr>
        </p:nvSpPr>
        <p:spPr>
          <a:xfrm>
            <a:off x="-6" y="0"/>
            <a:ext cx="3000012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g3fa75d01964_3_1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[KAWSER — 1:50-2:40]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framed the work as four questions.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— how far does skill transfer? We measure all six ordered pairs between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corpora, and then a harder three-way leave-one-out test: train on two,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on the unseen third.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— why does it fail? We reduce Grad-CAM from a picture to three numbers,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attention drift becomes a measurement rather than an illustration.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— is the transferred signal robust? We apply recompression, blur,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rescaling and noise ladders to every model on the same held-out videos.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Four — does augmentation actually generalize? We withhold corruption types from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entirely and judge the benefit with a two-thousand-replicate paired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bootstrap.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answers are in the white strips, and I will come back to each one.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critical design decision is at the top: the backbone never changes. So every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 we report is due to data or protocol, and never to model capacity.</a:t>
            </a:r>
            <a:endParaRPr/>
          </a:p>
        </p:txBody>
      </p:sp>
      <p:sp>
        <p:nvSpPr>
          <p:cNvPr id="176" name="Google Shape;176;g3fa75d01964_3_1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a75d01964_3_155:notes"/>
          <p:cNvSpPr/>
          <p:nvPr>
            <p:ph idx="2" type="sldImg"/>
          </p:nvPr>
        </p:nvSpPr>
        <p:spPr>
          <a:xfrm>
            <a:off x="-6" y="0"/>
            <a:ext cx="3000012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g3fa75d01964_3_15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[TASNEEM — 2:40-3:40]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literature divides into three lines.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first established the benchmarks. FaceForensics++ gave four manipulation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at three compression levels. Celeb-DF followed with a negative finding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 directly motivates our project: detectors scoring above 0.98 on older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corpora drop to about 0.65 on Celeb-DF. DFDC reproduced that at industrial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scale — the winning challenge entry reached only 0.65 on an unseen test set.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second line attacks generalization through architecture and training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signal. F-cubed-Net argues spectral traces survive across generators better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 pixel texture. LipForensics uses temporal mouth dynamics for 0.824 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unseen Celeb-DF. Self-blended images reach 0.932 by synthesizing forgeries from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single pristine image.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third line is methodological. DeepfakeBench re-implemented fifteen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detectors under one protocol and showed much of the reported difference between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comes from inconsistent evaluation rather than from the methods.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Hendrycks and Dietterich supply the corruption methodology we borrow — crucially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including the idea of holding corruption types out of training.</a:t>
            </a:r>
            <a:endParaRPr/>
          </a:p>
        </p:txBody>
      </p:sp>
      <p:sp>
        <p:nvSpPr>
          <p:cNvPr id="210" name="Google Shape;210;g3fa75d01964_3_15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a75d01964_3_191:notes"/>
          <p:cNvSpPr/>
          <p:nvPr>
            <p:ph idx="2" type="sldImg"/>
          </p:nvPr>
        </p:nvSpPr>
        <p:spPr>
          <a:xfrm>
            <a:off x="-6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g3fa75d01964_3_19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[TASNEEM — 3:40-4:40]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Reading those three lines together, five gaps recur, and each one shaped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decision in our project.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First, cross-dataset transfer is almost always reported pairwise. The harder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leave-one-out question is rarely posed, so we run all three folds.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Second, robustness and generalization are studied separately, even though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deployed detector meets both at once. So we degrade the out-of-domain models,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just the in-domain ones.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Third — and this is the important one — robustness evaluations overwhelmingly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on the same corruption families used for augmentation. That cannot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distinguish a robust model from one that memorized a fixed set of distortions.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withhold corruption families completely.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Fourth, results are reported as point estimates on a few hundred videos with no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confidence intervals. Every difference we report carries a two-thousand-replicate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bootstrap interval.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Fifth, and most mundane: splits are often formed per frame rather than per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identity. Frames from one video are near-duplicates, so that leaks the same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face across the split boundary and inflates every number downstream. Our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identity grouping is the reason our numbers are trustworthy, and I will show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it works in a moment.</a:t>
            </a:r>
            <a:endParaRPr/>
          </a:p>
        </p:txBody>
      </p:sp>
      <p:sp>
        <p:nvSpPr>
          <p:cNvPr id="247" name="Google Shape;247;g3fa75d01964_3_19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a75d01964_3_225:notes"/>
          <p:cNvSpPr/>
          <p:nvPr>
            <p:ph idx="2" type="sldImg"/>
          </p:nvPr>
        </p:nvSpPr>
        <p:spPr>
          <a:xfrm>
            <a:off x="-6" y="0"/>
            <a:ext cx="3000012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g3fa75d01964_3_2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[TASNEEM — 4:40-5:20]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complete pipeline, and it runs in four stages.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ingestion takes three video corpora as pre-extracted face crops, resizes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everything to 224 by 224 with ImageNet normalization, and then does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critical step — it parses every frame path back to a video identifier and runs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union-find pass to recover subject identity.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Splitting is done on those identity groups, not on frames, with an assertion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 fails the build if any group appears on both sides. We cap each source 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thirty thousand images so no corpus dominates.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is a single EfficientNet-B0, ImageNet-initialised, five-point-three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million parameters, with AdamW, warm-up plus cosine annealing, mixed precision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an exponential moving average. Frame scores are pooled into one decision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 video.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is the part we built the project around: in-domain testing, the full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three-by-three transfer matrix, the leave-one-out protocol, Grad-CAM reduced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scalars, and degradation ladders judged by bootstrap.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the line at the bottom — identity grouping collapses two thousand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FaceForensics++ videos into five hundred identity groups. That single stage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our numbers are trustworthy.</a:t>
            </a:r>
            <a:endParaRPr/>
          </a:p>
        </p:txBody>
      </p:sp>
      <p:sp>
        <p:nvSpPr>
          <p:cNvPr id="272" name="Google Shape;272;g3fa75d01964_3_2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a75d01964_3_258:notes"/>
          <p:cNvSpPr/>
          <p:nvPr>
            <p:ph idx="2" type="sldImg"/>
          </p:nvPr>
        </p:nvSpPr>
        <p:spPr>
          <a:xfrm>
            <a:off x="-6" y="0"/>
            <a:ext cx="3000012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5" name="Google Shape;305;g3fa75d01964_3_25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[TASNEEM — 5:20-6:00]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three corpora supply just under two hundred and thirty thousand face crops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 eight thousand nine hundred videos. Celeb-DF is the largest by video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count, DFDC is the densest per video at three hundred and twenty-seven frames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each, and FaceForensics++ is the only balanced one at fifty percent forged.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 is deliberately minimal and identical for every model 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fixed-stride sampling, face detection with box expansion, a square crop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224 by 224, and ImageNet normalization. We kept it minimal on purpose so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evaluation protocol is the variable under study, not the pipeline.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limitations we state up front rather than bury. First, our DFDC portion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train_sample subset, and its fifty-eight-video test split is small enough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 any DFDC-specific confidence interval is uninformative — we say so rather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 quietly using it. Second, the FaceForensics++ copy available to 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contains a single manipulation method, not four, so all our FF++ figures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one manipulation. Both of these bound what we claim.</a:t>
            </a:r>
            <a:endParaRPr/>
          </a:p>
        </p:txBody>
      </p:sp>
      <p:sp>
        <p:nvSpPr>
          <p:cNvPr id="306" name="Google Shape;306;g3fa75d01964_3_25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fa75d01964_3_286:notes"/>
          <p:cNvSpPr/>
          <p:nvPr>
            <p:ph idx="2" type="sldImg"/>
          </p:nvPr>
        </p:nvSpPr>
        <p:spPr>
          <a:xfrm>
            <a:off x="-6" y="0"/>
            <a:ext cx="3000012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4" name="Google Shape;334;g3fa75d01964_3_28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[TASNEEM — 6:00-6:45]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slide is the methodological core of the project, and it is where our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supervisor pushed us hardest.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Frames from one video are near-duplicates. If you split per frame, near-identical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images land on both sides of the boundary and every score inflates.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FaceForensics++ has a subtler version of the same trap, on the left. A forged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clip is synthesized from two named real clips, and the folder name encodes both.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folder 588_556_crops is built from real videos 588 and 556. If you split 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video, the forged clip can sit in training while the real 588 sits in test 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the network learns to recognise the individual, not the manipulation.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fix is on the right. Two videos join the same group if they share any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numeric identity token; we take the transitive closure with union-find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on the resulting groups. We then assert zero overlap on both groups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videos, and the build fails if it is ever violated.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effect is the strip at the bottom: two thousand FaceForensics++ videos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collapse to five hundred identity groups. This work found a frame-level leak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earlier measurement of ours and changed a headline number — which is exactly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we trust the figures I am about to hand back to Kawser.</a:t>
            </a:r>
            <a:endParaRPr/>
          </a:p>
        </p:txBody>
      </p:sp>
      <p:sp>
        <p:nvSpPr>
          <p:cNvPr id="335" name="Google Shape;335;g3fa75d01964_3_28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a75d01964_3_327:notes"/>
          <p:cNvSpPr/>
          <p:nvPr>
            <p:ph idx="2" type="sldImg"/>
          </p:nvPr>
        </p:nvSpPr>
        <p:spPr>
          <a:xfrm>
            <a:off x="-6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g3fa75d01964_3_3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[KAWSER — 6:45-7:25]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backbone is EfficientNet-B0, chosen for a parameter budget roughly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of the XceptionNet that dominates this literature — five-point-three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million parameters, a sixteen-megabyte checkpoint, trained on a single Tesla T4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a Kaggle notebook.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architectural detail matters for later. Every block carries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squeeze-and-excitation gate that recalibrates channels using global context.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 makes the network's reliance on globally distributed texture explicit,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is precisely what our Grad-CAM study probes.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head is a single logit trained with class-weighted binary cross-entropy,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because the corpora have very different class balances.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middle column is the configuration, and the important word is "identical".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AdamW, one warm-up epoch then cosine, mixed precision, EMA at 0.999, seventy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fifteen fifteen on identity groups, seed forty-two everywhere. Six models 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single-source and three two-source, each omitting one corpus entirely 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trained under exactly these settings.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only thing we ever vary is the augmentation ladder on the bottom right: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baseline, narrow, and broad. So when a number moves, it is the data or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protocol that moved it.</a:t>
            </a:r>
            <a:endParaRPr/>
          </a:p>
        </p:txBody>
      </p:sp>
      <p:sp>
        <p:nvSpPr>
          <p:cNvPr id="377" name="Google Shape;377;g3fa75d01964_3_3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fa75d01964_3_389:notes"/>
          <p:cNvSpPr/>
          <p:nvPr>
            <p:ph idx="2" type="sldImg"/>
          </p:nvPr>
        </p:nvSpPr>
        <p:spPr>
          <a:xfrm>
            <a:off x="-6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9" name="Google Shape;439;g3fa75d01964_3_38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[KAWSER — 7:25-8:05]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things on this slide decide whether the numbers mean anything.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First, detection is a claim about a video, not a frame. So we pool: the video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score is the mean frame probability over at most thirty-two frames, with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horizontal-flip test-time augmentation.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Second, the operating point. This mattered more than any modelling decision we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made. Celeb-DF is eighty-six point four percent forged at the video level. If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pick the threshold that maximises F1 — which early work did, and which we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did at first — it collapses to approximately zero and labels every single video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forged. You then report recall of one-point-zero-zero-zero and an accuracy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0.864, which is exactly the majority-class rate and carries no information 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all. So we report every threshold metric at the equal error rate instead, with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balanced accuracy.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the right, two derived quantities carry the whole argument.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generalization gap is what a model scores on its own data minus what it scores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a corpus it never saw. Retained signal measures robustness relative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chance rather than to zero, so it is comparable across models with different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 strength.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primary metric throughout is AUC, because it is threshold-free and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insensitive to the class imbalance that differs across these three corpora.</a:t>
            </a:r>
            <a:endParaRPr/>
          </a:p>
        </p:txBody>
      </p:sp>
      <p:sp>
        <p:nvSpPr>
          <p:cNvPr id="440" name="Google Shape;440;g3fa75d01964_3_38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fa75d01964_3_426:notes"/>
          <p:cNvSpPr/>
          <p:nvPr>
            <p:ph idx="2" type="sldImg"/>
          </p:nvPr>
        </p:nvSpPr>
        <p:spPr>
          <a:xfrm>
            <a:off x="-6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7" name="Google Shape;477;g3fa75d01964_3_4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[KAWSER — 8:05-8:50]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central measurement, and it points in two opposite directions 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both of which are true.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left heatmap is the single-source transfer matrix. Read the diagonal: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in-domain detection is close to solved, 0.9942 on Celeb-DF and 0.9998 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FaceForensics++, at equal error rates of two-point-nine and one-point-three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percent. And remember that is under identity-grouped splitting, so it is not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read off the diagonal. Every single cell falls between 0.626 and 0.820,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worst is close to chance for a balanced target. The middle chart shows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same thing under the harder leave-one-out protocol: 0.994 down to 0.765 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Celeb-DF — a gap of 0.229.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things follow, along the bottom. First, the matrix is asymmetric: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Celeb-DF model gets 0.8196 on FF++, but an FF++ model gets only 0.7302 back 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Celeb-DF. Training on higher-quality forgeries transfers downward more easily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 the reverse. Second, adding a second training corpus helps in all three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directions, but by only three to eight points against a gap of twenty-three 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narrows the gap, it does not close it. Third, as I said, the operating point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mattered more than any modelling decision: moving to the equal error rate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corrects Celeb-DF's leave-one-out accuracy from 0.864 down to 0.701.</a:t>
            </a:r>
            <a:endParaRPr/>
          </a:p>
        </p:txBody>
      </p:sp>
      <p:sp>
        <p:nvSpPr>
          <p:cNvPr id="478" name="Google Shape;478;g3fa75d01964_3_4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fa75d01964_3_453:notes"/>
          <p:cNvSpPr/>
          <p:nvPr>
            <p:ph idx="2" type="sldImg"/>
          </p:nvPr>
        </p:nvSpPr>
        <p:spPr>
          <a:xfrm>
            <a:off x="-6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5" name="Google Shape;505;g3fa75d01964_3_45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[KAWSER — 8:50-9:30]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our explainability result, and it supplies a mechanism rather than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restating the gap.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trick is to stop treating Grad-CAM as a picture. We reduce each map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scalars — normalized centre of mass, Shannon entropy, and border energy,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is the fraction of activation outside the central seventy percent of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crop — and we compare each in-domain expert against its leave-one-out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counterpart on identical images.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left chart is border energy. When a model is out of domain, its attention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measurably leaves the face — up twenty-six-and-a-half percent on Celeb-DF,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thirty-nine percent on FF++, twenty-eight percent on DFDC.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right chart is the subtler and more interesting result. Entropy also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*falls* out of domain, in all three corpora. Falling entropy means the map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becoming more concentrated, not more diffuse.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 those together, and it is the line at the bottom. The out-of-domain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not confused, and it is not hedging. It is confidently attending to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wrong region. Which means its confidence score carries no warning whatsoever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 it has failed — and for a deployed detector that is the dangerous failure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mode, not simply a lower score.</a:t>
            </a:r>
            <a:endParaRPr/>
          </a:p>
        </p:txBody>
      </p:sp>
      <p:sp>
        <p:nvSpPr>
          <p:cNvPr id="506" name="Google Shape;506;g3fa75d01964_3_45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fa75d01964_3_478:notes"/>
          <p:cNvSpPr/>
          <p:nvPr>
            <p:ph idx="2" type="sldImg"/>
          </p:nvPr>
        </p:nvSpPr>
        <p:spPr>
          <a:xfrm>
            <a:off x="-6" y="0"/>
            <a:ext cx="3000012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1" name="Google Shape;531;g3fa75d01964_3_47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[KAWSER hands to TASNEEM mid-slide — 9:30-10:15]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KAWSER (top half):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Degrading every model on identical held-out videos answered two questions 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First, do the near-perfect in-domain scores just rest on codec fingerprints? No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 the in-domain models retain eighty-three, ninety-four and ninety-nine percent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 their above-chance signal at JPEG quality ten. So the cross-corpus gap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a compression artefact.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the transferred signal is another matter entirely, on the top left.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leave-one-out Celeb-DF model falls from 0.7579 to 0.5342 under a single round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 social-media-grade recompression. That retains thirteen-point-three percent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 its above-chance signal — which is, effectively, chance. This is the most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consequential deployment finding in the project, because an unseen manipulation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one round of recompression co-occur in essentially every realistic upload.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top right shows the obvious remedy working: compression-aware training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lifts Celeb-DF from thirteen to fifty-three percent retained, for a clean-AUC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of just minus zero-point-zero-zero-one. Almost free. So — problem solved?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TASNEEM (bottom half):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No, and this is where the statistics matter. We ran a two-thousand-replicate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paired bootstrap on per-video predictions, and split the corruptions into ones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model saw in training and ones it did not.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the left: four of twelve seen comparisons reach significance. But zero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six unseen comparisons do. Not one. The benefit does not generalize.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then asked whether widening the curriculum changes that answer, on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right. It does not, and it tells us why. The gains land only where a matching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physical mechanism was added to training — posterization inherits from WebP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quantization, salt-and-pepper from Gaussian noise. Where a family was diluted,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drops. H.264, the one mechanism absent from every training set,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null throughout.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augmentation capacity behaves as an approximately zero-sum budget.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transfers by mechanism, not by breadth — and widening it is not free, costing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significant minus zero-point-zero-four-seven of clean accuracy.</a:t>
            </a:r>
            <a:endParaRPr/>
          </a:p>
        </p:txBody>
      </p:sp>
      <p:sp>
        <p:nvSpPr>
          <p:cNvPr id="532" name="Google Shape;532;g3fa75d01964_3_47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fa75d01964_3_490:notes"/>
          <p:cNvSpPr/>
          <p:nvPr>
            <p:ph idx="2" type="sldImg"/>
          </p:nvPr>
        </p:nvSpPr>
        <p:spPr>
          <a:xfrm>
            <a:off x="-6" y="0"/>
            <a:ext cx="3000012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4" name="Google Shape;544;g3fa75d01964_3_49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[TASNEEM — 10:15-10:50]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ablation is in component form: each row adds one technique to the row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above, on the same fixed backbone, and the AUC columns are measured on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corpus held out from training.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the Celeb-DF column downwards and you get the whole project in 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sequence. The in-domain reference is 0.9942. Holding a corpus out drops it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0.7650. Neither augmentation ladder recovers any of that on clean data, and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broad ladder costs a further 0.059. Crop-quality filtering returns 0.017,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rank-averaged ensembling returns 0.066 — the largest single gain in the study.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two rows should be read against each other rather than in sequence,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they are the reason we distrust ablation grids.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Rows two and three are the same model on the same predictions. They differ only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where the decision threshold sits. Row two reports the highest F1 in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entire table, 0.9269, while being the least useful configuration in it 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because that threshold labels every video forged. Any component grid can be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gamed by the operating point.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Row seven carries a second caution. Ensembling gives our best Celeb-DF and FF++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numbers, but it *loses* on DFDC because two weak members drag the rank average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down. A grid like this invites the reading that more ticks are better. Row seven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the counterexample.</a:t>
            </a:r>
            <a:endParaRPr/>
          </a:p>
        </p:txBody>
      </p:sp>
      <p:sp>
        <p:nvSpPr>
          <p:cNvPr id="545" name="Google Shape;545;g3fa75d01964_3_49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fa75d01964_3_510:notes"/>
          <p:cNvSpPr/>
          <p:nvPr>
            <p:ph idx="2" type="sldImg"/>
          </p:nvPr>
        </p:nvSpPr>
        <p:spPr>
          <a:xfrm>
            <a:off x="-6" y="0"/>
            <a:ext cx="3000012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5" name="Google Shape;565;g3fa75d01964_3_5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[TASNEEM — 10:50-11:25]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Augmentation turned out to be a closed route, so we tested four interventions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 act on the architecture or the objective instead. Three findings survive.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one that worked is row three: a dual-stream network. A second stream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consumes a learnable discrete-cosine decomposition of the same crop, and each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band is inverted back to image space so the frequency features stay spatially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aligned. It raises transfer by a mean of +0.015 and reaches 0.8788 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FaceForensics++ — the highest cross-corpus number anywhere in this study,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comes from one model rather than the four-checkpoint ensemble it beats.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are null, and both are informative. Domain-adversarial training achieved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its stated objective — it drove the source classifier to chance — and still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lost 0.031 of transfer. So the corpus difference it removed was partly signal.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Grad-CAM supervision is null at −0.006 even though the penalty dominated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objective, because it constrains where attention sits but not how concentrated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the cleanest result in the report is on the right. Multiplying training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videos twentyfold at a fixed frame budget raises transfer by +0.280 and +0.305,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both curves are still climbing at the largest budget we could test.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Spending a comparable number of images on more frames per video instead gains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+0.010 and actually regresses by −0.041.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interpretation is direct: ten frames of a thousand people teach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generalization. A thousand frames of ten people do not. That single finding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sets our capstone plan.</a:t>
            </a:r>
            <a:endParaRPr/>
          </a:p>
        </p:txBody>
      </p:sp>
      <p:sp>
        <p:nvSpPr>
          <p:cNvPr id="566" name="Google Shape;566;g3fa75d01964_3_5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fa75d01964_3_538:notes"/>
          <p:cNvSpPr/>
          <p:nvPr>
            <p:ph idx="2" type="sldImg"/>
          </p:nvPr>
        </p:nvSpPr>
        <p:spPr>
          <a:xfrm>
            <a:off x="-6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4" name="Google Shape;594;g3fa75d01964_3_5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[KAWSER — 11:25-12:00]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observations from the comparison table on the left.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First, our in-domain results match the published Xception and EfficientNet-B4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numbers on a backbone roughly a quarter of their size. So in-domain detection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not a capacity problem.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Second, our cross-corpus baseline sits squarely in the standard-CNN band. Our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0.7302 is consistent with the 0.653 reported for XceptionNet and the 0.737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 the unified protocol of DeepfakeBench. Specialized methods remain well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ahead — temporal cues at 0.824, self-blended training at 0.932 — and that gap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defines the frontier this project did not attempt to cross.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Third, three of our evaluations have no counterpart in that table because they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 rarely reported: the three-way leave-one-out protocol, robustness measured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transfer rather than in-domain, and the seen-versus-unseen corruption split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bootstrap intervals. One caveat throughout — cross-corpus numbers vary by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protocol, so these are "in the same range as", not exact comparisons.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the right side, which is the starkest result in the project. Every corpus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used predates latent diffusion. So we built a probe: we take real Celeb-DF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crops and edit them with a diffusion inpainting model, so each forgery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diffusion edit of its own real counterpart.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Across all nine checkpoints the median AUC is 0.480 against a chance value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0.5. And four are inverted — below the chance interval. Those detectors do not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merely fail to spot the diffusion forgery. They rank it as more authentic than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real photograph it was made from.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mechanism is visible in the crops. A diffusion decode is smooth, while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Celeb-DF original carries sensor noise and codec texture. Our models learned 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GAN and graphics composites that *add* high-frequency artefacts — so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generator that systematically removes them inverts them completely.</a:t>
            </a:r>
            <a:endParaRPr/>
          </a:p>
        </p:txBody>
      </p:sp>
      <p:sp>
        <p:nvSpPr>
          <p:cNvPr id="595" name="Google Shape;595;g3fa75d01964_3_5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fa75d01964_3_564:notes"/>
          <p:cNvSpPr/>
          <p:nvPr>
            <p:ph idx="2" type="sldImg"/>
          </p:nvPr>
        </p:nvSpPr>
        <p:spPr>
          <a:xfrm>
            <a:off x="-6" y="0"/>
            <a:ext cx="3000012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1" name="Google Shape;621;g3fa75d01964_3_56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[BOTH — 12:00-12:40]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KAWSER: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conclude. We set out to measure honestly how much of a detector's laboratory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survives contact with data it has never seen, and to explain what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lost.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In-domain detection is close to solved — but against a genuinely unseen corpus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same architecture falls to between 0.765 and 0.856, a gap of up to 0.229.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Grad-CAM supplies the mechanism: attention leaves the face while becoming more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concentrated, so the detector is confidently wrong and its confidence gives no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warning.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transferred signal is fragile, not merely weaker — one round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recompression leaves thirteen percent of it. Compression-aware training repairs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 specific failure almost for free, but the bootstrap shows the benefit does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generalize: zero of six unseen comparisons significant. Augmentation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transfers by physical mechanism, not by breadth.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TASNEEM: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the finding we regard as most useful is what did move the number. The two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largest effects we measured needed no architectural change at all: rank-averaged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ensembling at plus zero-point-zero-six-six, and training-video diversity, which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moved transfer by up to plus zero-point-three-zero-five and was still climbing.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limitations bound everything we have said, and we state them plainly: our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FaceForensics++ copy holds one manipulation method rather than four; 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fifty-eight test videos every DFDC interval is uninformative; and every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here concerns a single convolutional backbone.</a:t>
            </a:r>
            <a:endParaRPr/>
          </a:p>
        </p:txBody>
      </p:sp>
      <p:sp>
        <p:nvSpPr>
          <p:cNvPr id="622" name="Google Shape;622;g3fa75d01964_3_56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fa75d01964_3_595:notes"/>
          <p:cNvSpPr/>
          <p:nvPr>
            <p:ph idx="2" type="sldImg"/>
          </p:nvPr>
        </p:nvSpPr>
        <p:spPr>
          <a:xfrm>
            <a:off x="-6" y="0"/>
            <a:ext cx="3000012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3" name="Google Shape;653;g3fa75d01964_3_59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[TASNEEM — 12:40-13:10]  (trim this slide first if running long)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the capstone in CSE 499B we will act on what the data identifies 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blocking, rather than on what we simply left untried.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primary directions. First, we replace the two deficient corpora with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official-source material: the full four-method FaceForensics++ distribution,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an expanded DFDC until its intervals become informative. And we will add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latent-diffusion material as a training source and not just as a probe, since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detector we currently hold survives it. The justification is our own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data-scaling result — video diversity, not capacity and not augmentation,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binding constraint.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Second, we develop the frequency-domain direction that Section III-H shows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works, and add the temporal cues it does not cover, validating both under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seen-versus-unseen protocol we established here. And I want to stress that this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no longer a preference between open options. Widening the corruption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curriculum buys transfer only to neighbouring mechanisms, and of the four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alternatives we tried, the frequency stream is the one that moved the number.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Along the bottom, three items are already implemented and only await compute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budget — including the concentration term that our null Grad-CAM result points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directly at.</a:t>
            </a:r>
            <a:endParaRPr/>
          </a:p>
        </p:txBody>
      </p:sp>
      <p:sp>
        <p:nvSpPr>
          <p:cNvPr id="654" name="Google Shape;654;g3fa75d01964_3_59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fa75d01964_3_624:notes"/>
          <p:cNvSpPr/>
          <p:nvPr>
            <p:ph idx="2" type="sldImg"/>
          </p:nvPr>
        </p:nvSpPr>
        <p:spPr>
          <a:xfrm>
            <a:off x="-6" y="0"/>
            <a:ext cx="3000012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3" name="Google Shape;683;g3fa75d01964_3_6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[BOTH — 13:10-13:30]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Kawser: Those are our references — the corpora, the backbone and Grad-CAM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papers, and the methodological work on benchmarking and corruption robustness.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Tasneem: And we want to close on the acknowledgement. Our largest debt is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Dr. Riasat Khan. He pressed us early to stop reporting accuracy within a single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corpus and to ask the harder question of what survives when the data changes,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became the central question of the report. He insisted that our splits be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formed on subject identity rather than on individual frames — and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correction exposed a leak in an earlier measurement of ours and changed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headline number.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 was also the reason the negative results stayed in. It is tempting to report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augmentation recipe that worked and quietly drop the six comparisons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showed no reliable benefit. He took the opposite view: that a result which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fails to generalise is still a measurement.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also thank the groups behind FaceForensics++, Celeb-DF and DFDC.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Kawser: Thank you. We are happy to take questions.</a:t>
            </a:r>
            <a:endParaRPr/>
          </a:p>
        </p:txBody>
      </p:sp>
      <p:sp>
        <p:nvSpPr>
          <p:cNvPr id="684" name="Google Shape;684;g3fa75d01964_3_6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16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492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52" y="1597819"/>
            <a:ext cx="58293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04" y="2914650"/>
            <a:ext cx="48006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16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492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1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1" y="1200150"/>
            <a:ext cx="61722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16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492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37" y="3305175"/>
            <a:ext cx="58293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37" y="2180035"/>
            <a:ext cx="58293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16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492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1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1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164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16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492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1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1" y="1151335"/>
            <a:ext cx="30303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1" y="1631156"/>
            <a:ext cx="30303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783" y="1151335"/>
            <a:ext cx="30312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783" y="1631156"/>
            <a:ext cx="30312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16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492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1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6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2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1" y="204788"/>
            <a:ext cx="22563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298" y="204788"/>
            <a:ext cx="3833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1" y="1076325"/>
            <a:ext cx="22563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16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492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22" y="3600450"/>
            <a:ext cx="4114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22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22" y="4025504"/>
            <a:ext cx="4114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16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492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1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77" y="-188700"/>
            <a:ext cx="3394500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16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492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177" y="1628729"/>
            <a:ext cx="4388700" cy="15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5920" y="142828"/>
            <a:ext cx="4388700" cy="45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16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492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1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1" y="1200150"/>
            <a:ext cx="61722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6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492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384E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/>
          <p:nvPr/>
        </p:nvSpPr>
        <p:spPr>
          <a:xfrm>
            <a:off x="0" y="0"/>
            <a:ext cx="9144014" cy="2071116"/>
          </a:xfrm>
          <a:prstGeom prst="rect">
            <a:avLst/>
          </a:prstGeom>
          <a:solidFill>
            <a:srgbClr val="1E4C6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493778" y="425196"/>
            <a:ext cx="78181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  <a:t>CSE 499A  ·  SENIOR DESIGN PROJECT I</a:t>
            </a:r>
            <a:endParaRPr sz="1100"/>
          </a:p>
        </p:txBody>
      </p:sp>
      <p:sp>
        <p:nvSpPr>
          <p:cNvPr id="132" name="Google Shape;132;p25"/>
          <p:cNvSpPr txBox="1"/>
          <p:nvPr/>
        </p:nvSpPr>
        <p:spPr>
          <a:xfrm>
            <a:off x="493778" y="754380"/>
            <a:ext cx="7955313" cy="1165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Cross-Dataset Generalization and Robustness</a:t>
            </a:r>
            <a:endParaRPr sz="1100"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of Deepfake Detection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1" lang="en" sz="12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  <a:t>A Leave-One-Out Study with Explainability and Statistical Validation</a:t>
            </a:r>
            <a:endParaRPr sz="1100"/>
          </a:p>
        </p:txBody>
      </p:sp>
      <p:sp>
        <p:nvSpPr>
          <p:cNvPr id="133" name="Google Shape;133;p25"/>
          <p:cNvSpPr/>
          <p:nvPr/>
        </p:nvSpPr>
        <p:spPr>
          <a:xfrm>
            <a:off x="493778" y="2414016"/>
            <a:ext cx="288037" cy="288036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KS</a:t>
            </a:r>
            <a:endParaRPr sz="1100"/>
          </a:p>
        </p:txBody>
      </p:sp>
      <p:sp>
        <p:nvSpPr>
          <p:cNvPr id="134" name="Google Shape;134;p25"/>
          <p:cNvSpPr txBox="1"/>
          <p:nvPr/>
        </p:nvSpPr>
        <p:spPr>
          <a:xfrm>
            <a:off x="918975" y="2407158"/>
            <a:ext cx="3429014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Kawser Sikder</a:t>
            </a:r>
            <a:endParaRPr sz="1100"/>
          </a:p>
        </p:txBody>
      </p:sp>
      <p:sp>
        <p:nvSpPr>
          <p:cNvPr id="135" name="Google Shape;135;p25"/>
          <p:cNvSpPr txBox="1"/>
          <p:nvPr/>
        </p:nvSpPr>
        <p:spPr>
          <a:xfrm>
            <a:off x="918975" y="2592324"/>
            <a:ext cx="342901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B9BC7"/>
                </a:solidFill>
                <a:latin typeface="Calibri"/>
                <a:ea typeface="Calibri"/>
                <a:cs typeface="Calibri"/>
                <a:sym typeface="Calibri"/>
              </a:rPr>
              <a:t>Modelling · transfer study · robustness · ablation</a:t>
            </a:r>
            <a:endParaRPr sz="1100"/>
          </a:p>
        </p:txBody>
      </p:sp>
      <p:sp>
        <p:nvSpPr>
          <p:cNvPr id="136" name="Google Shape;136;p25"/>
          <p:cNvSpPr/>
          <p:nvPr/>
        </p:nvSpPr>
        <p:spPr>
          <a:xfrm>
            <a:off x="4540015" y="2414016"/>
            <a:ext cx="288037" cy="288036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</a:t>
            </a:r>
            <a:endParaRPr sz="1100"/>
          </a:p>
        </p:txBody>
      </p:sp>
      <p:sp>
        <p:nvSpPr>
          <p:cNvPr id="137" name="Google Shape;137;p25"/>
          <p:cNvSpPr txBox="1"/>
          <p:nvPr/>
        </p:nvSpPr>
        <p:spPr>
          <a:xfrm>
            <a:off x="4965212" y="2407158"/>
            <a:ext cx="3429014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Tasneem Abdullah Aurnobb</a:t>
            </a:r>
            <a:endParaRPr sz="1100"/>
          </a:p>
        </p:txBody>
      </p:sp>
      <p:sp>
        <p:nvSpPr>
          <p:cNvPr id="138" name="Google Shape;138;p25"/>
          <p:cNvSpPr txBox="1"/>
          <p:nvPr/>
        </p:nvSpPr>
        <p:spPr>
          <a:xfrm>
            <a:off x="4965212" y="2592324"/>
            <a:ext cx="342901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B9BC7"/>
                </a:solidFill>
                <a:latin typeface="Calibri"/>
                <a:ea typeface="Calibri"/>
                <a:cs typeface="Calibri"/>
                <a:sym typeface="Calibri"/>
              </a:rPr>
              <a:t>Data pipeline · leakage-safe splitting · statistics</a:t>
            </a:r>
            <a:endParaRPr sz="1100"/>
          </a:p>
        </p:txBody>
      </p:sp>
      <p:sp>
        <p:nvSpPr>
          <p:cNvPr id="139" name="Google Shape;139;p25"/>
          <p:cNvSpPr txBox="1"/>
          <p:nvPr/>
        </p:nvSpPr>
        <p:spPr>
          <a:xfrm>
            <a:off x="493778" y="3621024"/>
            <a:ext cx="7955313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Supervised by  Dr. Riasat Khan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  <a:t>Department of Electrical and Computer Engineering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  <a:t>North South University, Dhaka, Bangladesh</a:t>
            </a:r>
            <a:endParaRPr sz="1100"/>
          </a:p>
        </p:txBody>
      </p:sp>
      <p:sp>
        <p:nvSpPr>
          <p:cNvPr id="140" name="Google Shape;140;p25"/>
          <p:cNvSpPr txBox="1"/>
          <p:nvPr/>
        </p:nvSpPr>
        <p:spPr>
          <a:xfrm>
            <a:off x="493778" y="4608576"/>
            <a:ext cx="7955313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B9BC7"/>
                </a:solidFill>
                <a:latin typeface="Calibri"/>
                <a:ea typeface="Calibri"/>
                <a:cs typeface="Calibri"/>
                <a:sym typeface="Calibri"/>
              </a:rPr>
              <a:t>Final Presentation  ·  September 2026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/>
        </p:nvSpPr>
        <p:spPr>
          <a:xfrm>
            <a:off x="425198" y="4855464"/>
            <a:ext cx="6220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Cross-Dataset Generalization and Robustness of Deepfake Detection</a:t>
            </a:r>
            <a:endParaRPr sz="1100"/>
          </a:p>
        </p:txBody>
      </p:sp>
      <p:sp>
        <p:nvSpPr>
          <p:cNvPr id="147" name="Google Shape;147;p26"/>
          <p:cNvSpPr txBox="1"/>
          <p:nvPr/>
        </p:nvSpPr>
        <p:spPr>
          <a:xfrm>
            <a:off x="7758693" y="4855464"/>
            <a:ext cx="960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2 / 19</a:t>
            </a:r>
            <a:endParaRPr sz="1100"/>
          </a:p>
        </p:txBody>
      </p:sp>
      <p:sp>
        <p:nvSpPr>
          <p:cNvPr id="148" name="Google Shape;148;p26"/>
          <p:cNvSpPr txBox="1"/>
          <p:nvPr/>
        </p:nvSpPr>
        <p:spPr>
          <a:xfrm>
            <a:off x="425198" y="315468"/>
            <a:ext cx="8293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INTRODUCTION &amp; MOTIVATION</a:t>
            </a:r>
            <a:endParaRPr sz="1100"/>
          </a:p>
        </p:txBody>
      </p:sp>
      <p:sp>
        <p:nvSpPr>
          <p:cNvPr id="149" name="Google Shape;149;p26"/>
          <p:cNvSpPr txBox="1"/>
          <p:nvPr/>
        </p:nvSpPr>
        <p:spPr>
          <a:xfrm>
            <a:off x="425198" y="521208"/>
            <a:ext cx="82935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A detector that works in the lab, not in the wild</a:t>
            </a:r>
            <a:endParaRPr sz="1100"/>
          </a:p>
        </p:txBody>
      </p:sp>
      <p:sp>
        <p:nvSpPr>
          <p:cNvPr id="150" name="Google Shape;150;p26"/>
          <p:cNvSpPr txBox="1"/>
          <p:nvPr/>
        </p:nvSpPr>
        <p:spPr>
          <a:xfrm>
            <a:off x="425198" y="973836"/>
            <a:ext cx="4491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Face manipulation software is now </a:t>
            </a:r>
            <a:r>
              <a:rPr b="1" i="0" lang="en" sz="11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cheap, free and consumer-grade</a:t>
            </a:r>
            <a:r>
              <a:rPr b="0" i="0" lang="en" sz="11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. A convincing forgery can be built from a handful of public photographs on a single graphics card.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Published detectors report accuracy </a:t>
            </a:r>
            <a:r>
              <a:rPr b="1" i="0" lang="en" sz="11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above 99%</a:t>
            </a:r>
            <a:r>
              <a:rPr b="0" i="0" lang="en" sz="11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 — but almost always on the same corpus they trained on. That number hides a collapse.</a:t>
            </a:r>
            <a:endParaRPr sz="1100"/>
          </a:p>
        </p:txBody>
      </p:sp>
      <p:sp>
        <p:nvSpPr>
          <p:cNvPr id="151" name="Google Shape;151;p26"/>
          <p:cNvSpPr/>
          <p:nvPr/>
        </p:nvSpPr>
        <p:spPr>
          <a:xfrm>
            <a:off x="425200" y="2071128"/>
            <a:ext cx="4491900" cy="2073000"/>
          </a:xfrm>
          <a:prstGeom prst="roundRect">
            <a:avLst>
              <a:gd fmla="val 4824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6"/>
          <p:cNvSpPr txBox="1"/>
          <p:nvPr/>
        </p:nvSpPr>
        <p:spPr>
          <a:xfrm>
            <a:off x="603506" y="2208276"/>
            <a:ext cx="41355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WHAT WE BUILT</a:t>
            </a:r>
            <a:endParaRPr sz="1100"/>
          </a:p>
        </p:txBody>
      </p:sp>
      <p:sp>
        <p:nvSpPr>
          <p:cNvPr id="153" name="Google Shape;153;p26"/>
          <p:cNvSpPr/>
          <p:nvPr/>
        </p:nvSpPr>
        <p:spPr>
          <a:xfrm>
            <a:off x="603506" y="2441447"/>
            <a:ext cx="274200" cy="274200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/>
          </a:p>
        </p:txBody>
      </p:sp>
      <p:sp>
        <p:nvSpPr>
          <p:cNvPr id="154" name="Google Shape;154;p26"/>
          <p:cNvSpPr txBox="1"/>
          <p:nvPr/>
        </p:nvSpPr>
        <p:spPr>
          <a:xfrm>
            <a:off x="1014984" y="2381250"/>
            <a:ext cx="3723900" cy="17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A deliberately compact detector</a:t>
            </a:r>
            <a:endParaRPr b="1" sz="1100">
              <a:solidFill>
                <a:srgbClr val="1C2B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6"/>
          <p:cNvSpPr txBox="1"/>
          <p:nvPr/>
        </p:nvSpPr>
        <p:spPr>
          <a:xfrm>
            <a:off x="1014984" y="2552700"/>
            <a:ext cx="3723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One fixed EfficientNet-B0 backbone, 5.3 M parameters, held constant across every experiment.</a:t>
            </a:r>
            <a:endParaRPr b="0" sz="900">
              <a:solidFill>
                <a:srgbClr val="6E82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6"/>
          <p:cNvSpPr/>
          <p:nvPr/>
        </p:nvSpPr>
        <p:spPr>
          <a:xfrm>
            <a:off x="603506" y="2859786"/>
            <a:ext cx="274200" cy="274200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/>
          </a:p>
        </p:txBody>
      </p:sp>
      <p:sp>
        <p:nvSpPr>
          <p:cNvPr id="157" name="Google Shape;157;p26"/>
          <p:cNvSpPr txBox="1"/>
          <p:nvPr/>
        </p:nvSpPr>
        <p:spPr>
          <a:xfrm>
            <a:off x="1014984" y="2933700"/>
            <a:ext cx="3723900" cy="17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A protocol designed to expose failure</a:t>
            </a:r>
            <a:endParaRPr b="1" sz="1100">
              <a:solidFill>
                <a:srgbClr val="1C2B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6"/>
          <p:cNvSpPr txBox="1"/>
          <p:nvPr/>
        </p:nvSpPr>
        <p:spPr>
          <a:xfrm>
            <a:off x="1014984" y="3105150"/>
            <a:ext cx="3723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Three public corpora, every ordered pair, and a three-way leave-one-out test on a corpus never seen.</a:t>
            </a:r>
            <a:endParaRPr b="0" sz="900">
              <a:solidFill>
                <a:srgbClr val="6E82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6"/>
          <p:cNvSpPr/>
          <p:nvPr/>
        </p:nvSpPr>
        <p:spPr>
          <a:xfrm>
            <a:off x="603506" y="3278124"/>
            <a:ext cx="274200" cy="274200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/>
          </a:p>
        </p:txBody>
      </p:sp>
      <p:sp>
        <p:nvSpPr>
          <p:cNvPr id="160" name="Google Shape;160;p26"/>
          <p:cNvSpPr txBox="1"/>
          <p:nvPr/>
        </p:nvSpPr>
        <p:spPr>
          <a:xfrm>
            <a:off x="1014984" y="3486150"/>
            <a:ext cx="3723900" cy="17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An explanation, not just a number</a:t>
            </a:r>
            <a:endParaRPr b="1" sz="1100">
              <a:solidFill>
                <a:srgbClr val="1C2B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6"/>
          <p:cNvSpPr txBox="1"/>
          <p:nvPr/>
        </p:nvSpPr>
        <p:spPr>
          <a:xfrm>
            <a:off x="1014984" y="3657600"/>
            <a:ext cx="3723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Grad-CAM reduced to statistics, degradation ladders, and bootstrap confidence intervals.</a:t>
            </a:r>
            <a:endParaRPr b="0" sz="900">
              <a:solidFill>
                <a:srgbClr val="6E82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6"/>
          <p:cNvSpPr/>
          <p:nvPr/>
        </p:nvSpPr>
        <p:spPr>
          <a:xfrm>
            <a:off x="5212101" y="973836"/>
            <a:ext cx="3506700" cy="987600"/>
          </a:xfrm>
          <a:prstGeom prst="roundRect">
            <a:avLst>
              <a:gd fmla="val 7638" name="adj"/>
            </a:avLst>
          </a:prstGeom>
          <a:solidFill>
            <a:srgbClr val="FAF0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6"/>
          <p:cNvSpPr txBox="1"/>
          <p:nvPr/>
        </p:nvSpPr>
        <p:spPr>
          <a:xfrm>
            <a:off x="5390410" y="1097279"/>
            <a:ext cx="31500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C96442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sz="1100"/>
          </a:p>
        </p:txBody>
      </p:sp>
      <p:sp>
        <p:nvSpPr>
          <p:cNvPr id="164" name="Google Shape;164;p26"/>
          <p:cNvSpPr txBox="1"/>
          <p:nvPr/>
        </p:nvSpPr>
        <p:spPr>
          <a:xfrm>
            <a:off x="5390410" y="1316736"/>
            <a:ext cx="3150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Not to add another point of in-domain accuracy, but to </a:t>
            </a:r>
            <a:r>
              <a:rPr b="1" i="0" lang="en" sz="10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quantify how much of a detector's skill transfers</a:t>
            </a:r>
            <a:r>
              <a:rPr b="0" i="0" lang="en" sz="10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, to explain </a:t>
            </a:r>
            <a:r>
              <a:rPr b="0" i="1" lang="en" sz="10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r>
              <a:rPr b="0" i="0" lang="en" sz="10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 it does not, and to test whether the standard remedies work.</a:t>
            </a:r>
            <a:endParaRPr sz="1100"/>
          </a:p>
        </p:txBody>
      </p:sp>
      <p:sp>
        <p:nvSpPr>
          <p:cNvPr id="165" name="Google Shape;165;p26"/>
          <p:cNvSpPr txBox="1"/>
          <p:nvPr/>
        </p:nvSpPr>
        <p:spPr>
          <a:xfrm>
            <a:off x="5212101" y="2125979"/>
            <a:ext cx="3506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THE GAP WE MEASURED</a:t>
            </a:r>
            <a:endParaRPr sz="1100"/>
          </a:p>
        </p:txBody>
      </p:sp>
      <p:sp>
        <p:nvSpPr>
          <p:cNvPr id="166" name="Google Shape;166;p26"/>
          <p:cNvSpPr/>
          <p:nvPr/>
        </p:nvSpPr>
        <p:spPr>
          <a:xfrm>
            <a:off x="5212101" y="2345436"/>
            <a:ext cx="1648200" cy="795600"/>
          </a:xfrm>
          <a:prstGeom prst="roundRect">
            <a:avLst>
              <a:gd fmla="val 8620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6"/>
          <p:cNvSpPr txBox="1"/>
          <p:nvPr/>
        </p:nvSpPr>
        <p:spPr>
          <a:xfrm>
            <a:off x="5280682" y="2434590"/>
            <a:ext cx="15111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2E6F9E"/>
                </a:solidFill>
                <a:latin typeface="Cambria"/>
                <a:ea typeface="Cambria"/>
                <a:cs typeface="Cambria"/>
                <a:sym typeface="Cambria"/>
              </a:rPr>
              <a:t>0.9942</a:t>
            </a:r>
            <a:endParaRPr sz="1100"/>
          </a:p>
        </p:txBody>
      </p:sp>
      <p:sp>
        <p:nvSpPr>
          <p:cNvPr id="168" name="Google Shape;168;p26"/>
          <p:cNvSpPr txBox="1"/>
          <p:nvPr/>
        </p:nvSpPr>
        <p:spPr>
          <a:xfrm>
            <a:off x="5280682" y="2720054"/>
            <a:ext cx="1511100" cy="5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in-domain AUC</a:t>
            </a:r>
            <a:b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Celeb-DF</a:t>
            </a:r>
            <a:endParaRPr sz="1100"/>
          </a:p>
        </p:txBody>
      </p:sp>
      <p:sp>
        <p:nvSpPr>
          <p:cNvPr id="169" name="Google Shape;169;p26"/>
          <p:cNvSpPr/>
          <p:nvPr/>
        </p:nvSpPr>
        <p:spPr>
          <a:xfrm>
            <a:off x="7070660" y="2345436"/>
            <a:ext cx="1648200" cy="795600"/>
          </a:xfrm>
          <a:prstGeom prst="roundRect">
            <a:avLst>
              <a:gd fmla="val 8620" name="adj"/>
            </a:avLst>
          </a:prstGeom>
          <a:solidFill>
            <a:srgbClr val="FAF0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6"/>
          <p:cNvSpPr txBox="1"/>
          <p:nvPr/>
        </p:nvSpPr>
        <p:spPr>
          <a:xfrm>
            <a:off x="7139240" y="2434590"/>
            <a:ext cx="15111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96442"/>
                </a:solidFill>
                <a:latin typeface="Cambria"/>
                <a:ea typeface="Cambria"/>
                <a:cs typeface="Cambria"/>
                <a:sym typeface="Cambria"/>
              </a:rPr>
              <a:t>0.7650</a:t>
            </a:r>
            <a:endParaRPr sz="1100"/>
          </a:p>
        </p:txBody>
      </p:sp>
      <p:sp>
        <p:nvSpPr>
          <p:cNvPr id="171" name="Google Shape;171;p26"/>
          <p:cNvSpPr txBox="1"/>
          <p:nvPr/>
        </p:nvSpPr>
        <p:spPr>
          <a:xfrm>
            <a:off x="7139240" y="2720054"/>
            <a:ext cx="1511100" cy="5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unseen corpus</a:t>
            </a:r>
            <a:b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(leave-one-out)</a:t>
            </a:r>
            <a:endParaRPr sz="1100"/>
          </a:p>
        </p:txBody>
      </p:sp>
      <p:sp>
        <p:nvSpPr>
          <p:cNvPr id="172" name="Google Shape;172;p26"/>
          <p:cNvSpPr txBox="1"/>
          <p:nvPr/>
        </p:nvSpPr>
        <p:spPr>
          <a:xfrm>
            <a:off x="5212101" y="3236976"/>
            <a:ext cx="3506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a generalization gap of  </a:t>
            </a:r>
            <a:r>
              <a:rPr b="1" i="0" lang="en" sz="1100" u="none" cap="none" strike="noStrike">
                <a:solidFill>
                  <a:srgbClr val="C96442"/>
                </a:solidFill>
                <a:latin typeface="Calibri"/>
                <a:ea typeface="Calibri"/>
                <a:cs typeface="Calibri"/>
                <a:sym typeface="Calibri"/>
              </a:rPr>
              <a:t>0.229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/>
        </p:nvSpPr>
        <p:spPr>
          <a:xfrm>
            <a:off x="425198" y="4855464"/>
            <a:ext cx="622021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Cross-Dataset Generalization and Robustness of Deepfake Detection</a:t>
            </a:r>
            <a:endParaRPr sz="1100"/>
          </a:p>
        </p:txBody>
      </p:sp>
      <p:sp>
        <p:nvSpPr>
          <p:cNvPr id="179" name="Google Shape;179;p27"/>
          <p:cNvSpPr txBox="1"/>
          <p:nvPr/>
        </p:nvSpPr>
        <p:spPr>
          <a:xfrm>
            <a:off x="7758693" y="4855464"/>
            <a:ext cx="9601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3 / 19</a:t>
            </a:r>
            <a:endParaRPr sz="1100"/>
          </a:p>
        </p:txBody>
      </p:sp>
      <p:sp>
        <p:nvSpPr>
          <p:cNvPr id="180" name="Google Shape;180;p27"/>
          <p:cNvSpPr txBox="1"/>
          <p:nvPr/>
        </p:nvSpPr>
        <p:spPr>
          <a:xfrm>
            <a:off x="425198" y="315468"/>
            <a:ext cx="829361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INTRODUCTION &amp; MOTIVATION</a:t>
            </a:r>
            <a:endParaRPr sz="1100"/>
          </a:p>
        </p:txBody>
      </p:sp>
      <p:sp>
        <p:nvSpPr>
          <p:cNvPr id="181" name="Google Shape;181;p27"/>
          <p:cNvSpPr txBox="1"/>
          <p:nvPr/>
        </p:nvSpPr>
        <p:spPr>
          <a:xfrm>
            <a:off x="425198" y="521208"/>
            <a:ext cx="8293619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Four questions, one fixed backbone</a:t>
            </a:r>
            <a:endParaRPr sz="1100"/>
          </a:p>
        </p:txBody>
      </p:sp>
      <p:sp>
        <p:nvSpPr>
          <p:cNvPr id="182" name="Google Shape;182;p27"/>
          <p:cNvSpPr txBox="1"/>
          <p:nvPr/>
        </p:nvSpPr>
        <p:spPr>
          <a:xfrm>
            <a:off x="425198" y="960120"/>
            <a:ext cx="829361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The backbone is held </a:t>
            </a:r>
            <a:r>
              <a:rPr b="1" i="0" lang="en" sz="10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identical</a:t>
            </a:r>
            <a:r>
              <a:rPr b="0" i="0" lang="en" sz="10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 in every experiment, so every difference we report is attributable to data or protocol — never to capacity.</a:t>
            </a:r>
            <a:endParaRPr sz="1100"/>
          </a:p>
        </p:txBody>
      </p:sp>
      <p:sp>
        <p:nvSpPr>
          <p:cNvPr id="183" name="Google Shape;183;p27"/>
          <p:cNvSpPr/>
          <p:nvPr/>
        </p:nvSpPr>
        <p:spPr>
          <a:xfrm>
            <a:off x="425198" y="1316736"/>
            <a:ext cx="1939673" cy="2756915"/>
          </a:xfrm>
          <a:prstGeom prst="roundRect">
            <a:avLst>
              <a:gd fmla="val 3889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/>
          <p:cNvSpPr/>
          <p:nvPr/>
        </p:nvSpPr>
        <p:spPr>
          <a:xfrm>
            <a:off x="548642" y="1453896"/>
            <a:ext cx="356617" cy="356616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sz="1100"/>
          </a:p>
        </p:txBody>
      </p:sp>
      <p:sp>
        <p:nvSpPr>
          <p:cNvPr id="185" name="Google Shape;185;p27"/>
          <p:cNvSpPr txBox="1"/>
          <p:nvPr/>
        </p:nvSpPr>
        <p:spPr>
          <a:xfrm>
            <a:off x="589790" y="1933956"/>
            <a:ext cx="1610488" cy="589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How far does skill</a:t>
            </a:r>
            <a:br>
              <a:rPr b="1" i="0" lang="en" sz="12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i="0" lang="en" sz="12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transfer?</a:t>
            </a:r>
            <a:endParaRPr sz="1100"/>
          </a:p>
        </p:txBody>
      </p:sp>
      <p:sp>
        <p:nvSpPr>
          <p:cNvPr id="186" name="Google Shape;186;p27"/>
          <p:cNvSpPr txBox="1"/>
          <p:nvPr/>
        </p:nvSpPr>
        <p:spPr>
          <a:xfrm>
            <a:off x="589790" y="2578608"/>
            <a:ext cx="161048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All six ordered corpus pairs, plus a three-way leave-one-out test on a corpus never seen in training.</a:t>
            </a:r>
            <a:endParaRPr sz="1100"/>
          </a:p>
        </p:txBody>
      </p:sp>
      <p:sp>
        <p:nvSpPr>
          <p:cNvPr id="187" name="Google Shape;187;p27"/>
          <p:cNvSpPr/>
          <p:nvPr/>
        </p:nvSpPr>
        <p:spPr>
          <a:xfrm>
            <a:off x="589790" y="3579876"/>
            <a:ext cx="1610488" cy="3429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630938" y="3662172"/>
            <a:ext cx="1528191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C96442"/>
                </a:solidFill>
                <a:latin typeface="Calibri"/>
                <a:ea typeface="Calibri"/>
                <a:cs typeface="Calibri"/>
                <a:sym typeface="Calibri"/>
              </a:rPr>
              <a:t>Gap up to 0.229</a:t>
            </a:r>
            <a:endParaRPr sz="1100"/>
          </a:p>
        </p:txBody>
      </p:sp>
      <p:sp>
        <p:nvSpPr>
          <p:cNvPr id="189" name="Google Shape;189;p27"/>
          <p:cNvSpPr/>
          <p:nvPr/>
        </p:nvSpPr>
        <p:spPr>
          <a:xfrm>
            <a:off x="2543179" y="1316736"/>
            <a:ext cx="1939673" cy="2756915"/>
          </a:xfrm>
          <a:prstGeom prst="roundRect">
            <a:avLst>
              <a:gd fmla="val 3889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7"/>
          <p:cNvSpPr/>
          <p:nvPr/>
        </p:nvSpPr>
        <p:spPr>
          <a:xfrm>
            <a:off x="2666624" y="1453896"/>
            <a:ext cx="356617" cy="356616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sz="1100"/>
          </a:p>
        </p:txBody>
      </p:sp>
      <p:sp>
        <p:nvSpPr>
          <p:cNvPr id="191" name="Google Shape;191;p27"/>
          <p:cNvSpPr txBox="1"/>
          <p:nvPr/>
        </p:nvSpPr>
        <p:spPr>
          <a:xfrm>
            <a:off x="2707772" y="1933956"/>
            <a:ext cx="1610488" cy="589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Why does it fail?</a:t>
            </a:r>
            <a:endParaRPr sz="1100"/>
          </a:p>
        </p:txBody>
      </p:sp>
      <p:sp>
        <p:nvSpPr>
          <p:cNvPr id="192" name="Google Shape;192;p27"/>
          <p:cNvSpPr txBox="1"/>
          <p:nvPr/>
        </p:nvSpPr>
        <p:spPr>
          <a:xfrm>
            <a:off x="2707772" y="2578608"/>
            <a:ext cx="161048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Grad-CAM reduced from an illustration to three scalars, compared in- and out-of-domain on identical images.</a:t>
            </a:r>
            <a:endParaRPr sz="1100"/>
          </a:p>
        </p:txBody>
      </p:sp>
      <p:sp>
        <p:nvSpPr>
          <p:cNvPr id="193" name="Google Shape;193;p27"/>
          <p:cNvSpPr/>
          <p:nvPr/>
        </p:nvSpPr>
        <p:spPr>
          <a:xfrm>
            <a:off x="2707772" y="3579876"/>
            <a:ext cx="1610488" cy="3429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2748920" y="3662172"/>
            <a:ext cx="1528191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C96442"/>
                </a:solidFill>
                <a:latin typeface="Calibri"/>
                <a:ea typeface="Calibri"/>
                <a:cs typeface="Calibri"/>
                <a:sym typeface="Calibri"/>
              </a:rPr>
              <a:t>Attention leaves the face</a:t>
            </a:r>
            <a:endParaRPr sz="1100"/>
          </a:p>
        </p:txBody>
      </p:sp>
      <p:sp>
        <p:nvSpPr>
          <p:cNvPr id="195" name="Google Shape;195;p27"/>
          <p:cNvSpPr/>
          <p:nvPr/>
        </p:nvSpPr>
        <p:spPr>
          <a:xfrm>
            <a:off x="4661161" y="1316736"/>
            <a:ext cx="1939673" cy="2756915"/>
          </a:xfrm>
          <a:prstGeom prst="roundRect">
            <a:avLst>
              <a:gd fmla="val 3889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7"/>
          <p:cNvSpPr/>
          <p:nvPr/>
        </p:nvSpPr>
        <p:spPr>
          <a:xfrm>
            <a:off x="4784606" y="1453896"/>
            <a:ext cx="356617" cy="356616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sz="1100"/>
          </a:p>
        </p:txBody>
      </p:sp>
      <p:sp>
        <p:nvSpPr>
          <p:cNvPr id="197" name="Google Shape;197;p27"/>
          <p:cNvSpPr txBox="1"/>
          <p:nvPr/>
        </p:nvSpPr>
        <p:spPr>
          <a:xfrm>
            <a:off x="4825754" y="1933956"/>
            <a:ext cx="1610488" cy="589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Is the transferred</a:t>
            </a:r>
            <a:br>
              <a:rPr b="1" i="0" lang="en" sz="12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i="0" lang="en" sz="12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signal robust?</a:t>
            </a:r>
            <a:endParaRPr sz="1100"/>
          </a:p>
        </p:txBody>
      </p:sp>
      <p:sp>
        <p:nvSpPr>
          <p:cNvPr id="198" name="Google Shape;198;p27"/>
          <p:cNvSpPr txBox="1"/>
          <p:nvPr/>
        </p:nvSpPr>
        <p:spPr>
          <a:xfrm>
            <a:off x="4825754" y="2578608"/>
            <a:ext cx="161048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Recompression, blur, rescaling and noise ladders applied identically to every model on the same videos.</a:t>
            </a:r>
            <a:endParaRPr sz="1100"/>
          </a:p>
        </p:txBody>
      </p:sp>
      <p:sp>
        <p:nvSpPr>
          <p:cNvPr id="199" name="Google Shape;199;p27"/>
          <p:cNvSpPr/>
          <p:nvPr/>
        </p:nvSpPr>
        <p:spPr>
          <a:xfrm>
            <a:off x="4825754" y="3579876"/>
            <a:ext cx="1610488" cy="3429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7"/>
          <p:cNvSpPr txBox="1"/>
          <p:nvPr/>
        </p:nvSpPr>
        <p:spPr>
          <a:xfrm>
            <a:off x="4866902" y="3662172"/>
            <a:ext cx="1528191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C96442"/>
                </a:solidFill>
                <a:latin typeface="Calibri"/>
                <a:ea typeface="Calibri"/>
                <a:cs typeface="Calibri"/>
                <a:sym typeface="Calibri"/>
              </a:rPr>
              <a:t>13.3% survives JPEG q10</a:t>
            </a:r>
            <a:endParaRPr sz="1100"/>
          </a:p>
        </p:txBody>
      </p:sp>
      <p:sp>
        <p:nvSpPr>
          <p:cNvPr id="201" name="Google Shape;201;p27"/>
          <p:cNvSpPr/>
          <p:nvPr/>
        </p:nvSpPr>
        <p:spPr>
          <a:xfrm>
            <a:off x="6779144" y="1316736"/>
            <a:ext cx="1939673" cy="2756915"/>
          </a:xfrm>
          <a:prstGeom prst="roundRect">
            <a:avLst>
              <a:gd fmla="val 3889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7"/>
          <p:cNvSpPr/>
          <p:nvPr/>
        </p:nvSpPr>
        <p:spPr>
          <a:xfrm>
            <a:off x="6902588" y="1453896"/>
            <a:ext cx="356617" cy="356616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Q4</a:t>
            </a:r>
            <a:endParaRPr sz="1100"/>
          </a:p>
        </p:txBody>
      </p:sp>
      <p:sp>
        <p:nvSpPr>
          <p:cNvPr id="203" name="Google Shape;203;p27"/>
          <p:cNvSpPr txBox="1"/>
          <p:nvPr/>
        </p:nvSpPr>
        <p:spPr>
          <a:xfrm>
            <a:off x="6943736" y="1933956"/>
            <a:ext cx="1610488" cy="589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Does augmentation</a:t>
            </a:r>
            <a:br>
              <a:rPr b="1" i="0" lang="en" sz="12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i="0" lang="en" sz="12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actually generalize?</a:t>
            </a:r>
            <a:endParaRPr sz="1100"/>
          </a:p>
        </p:txBody>
      </p:sp>
      <p:sp>
        <p:nvSpPr>
          <p:cNvPr id="204" name="Google Shape;204;p27"/>
          <p:cNvSpPr txBox="1"/>
          <p:nvPr/>
        </p:nvSpPr>
        <p:spPr>
          <a:xfrm>
            <a:off x="6943736" y="2578608"/>
            <a:ext cx="161048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Corruption types withheld from training, judged by a 2 000-replicate paired bootstrap rather than by eye.</a:t>
            </a:r>
            <a:endParaRPr sz="1100"/>
          </a:p>
        </p:txBody>
      </p:sp>
      <p:sp>
        <p:nvSpPr>
          <p:cNvPr id="205" name="Google Shape;205;p27"/>
          <p:cNvSpPr/>
          <p:nvPr/>
        </p:nvSpPr>
        <p:spPr>
          <a:xfrm>
            <a:off x="6943736" y="3579876"/>
            <a:ext cx="1610488" cy="3429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7"/>
          <p:cNvSpPr txBox="1"/>
          <p:nvPr/>
        </p:nvSpPr>
        <p:spPr>
          <a:xfrm>
            <a:off x="6984884" y="3662172"/>
            <a:ext cx="1528191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C96442"/>
                </a:solidFill>
                <a:latin typeface="Calibri"/>
                <a:ea typeface="Calibri"/>
                <a:cs typeface="Calibri"/>
                <a:sym typeface="Calibri"/>
              </a:rPr>
              <a:t>0 of 6 significant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 txBox="1"/>
          <p:nvPr/>
        </p:nvSpPr>
        <p:spPr>
          <a:xfrm>
            <a:off x="425198" y="4855464"/>
            <a:ext cx="622021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Cross-Dataset Generalization and Robustness of Deepfake Detection</a:t>
            </a:r>
            <a:endParaRPr sz="1100"/>
          </a:p>
        </p:txBody>
      </p:sp>
      <p:sp>
        <p:nvSpPr>
          <p:cNvPr id="213" name="Google Shape;213;p28"/>
          <p:cNvSpPr txBox="1"/>
          <p:nvPr/>
        </p:nvSpPr>
        <p:spPr>
          <a:xfrm>
            <a:off x="7758693" y="4855464"/>
            <a:ext cx="9601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4 / 19</a:t>
            </a:r>
            <a:endParaRPr sz="1100"/>
          </a:p>
        </p:txBody>
      </p:sp>
      <p:sp>
        <p:nvSpPr>
          <p:cNvPr id="214" name="Google Shape;214;p28"/>
          <p:cNvSpPr txBox="1"/>
          <p:nvPr/>
        </p:nvSpPr>
        <p:spPr>
          <a:xfrm>
            <a:off x="425198" y="315468"/>
            <a:ext cx="829361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sz="1100"/>
          </a:p>
        </p:txBody>
      </p:sp>
      <p:sp>
        <p:nvSpPr>
          <p:cNvPr id="215" name="Google Shape;215;p28"/>
          <p:cNvSpPr txBox="1"/>
          <p:nvPr/>
        </p:nvSpPr>
        <p:spPr>
          <a:xfrm>
            <a:off x="425198" y="521208"/>
            <a:ext cx="8293619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Three lines of recent work</a:t>
            </a:r>
            <a:endParaRPr sz="1100"/>
          </a:p>
        </p:txBody>
      </p:sp>
      <p:sp>
        <p:nvSpPr>
          <p:cNvPr id="216" name="Google Shape;216;p28"/>
          <p:cNvSpPr/>
          <p:nvPr/>
        </p:nvSpPr>
        <p:spPr>
          <a:xfrm>
            <a:off x="425198" y="946404"/>
            <a:ext cx="2636523" cy="3470148"/>
          </a:xfrm>
          <a:prstGeom prst="roundRect">
            <a:avLst>
              <a:gd fmla="val 2861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8"/>
          <p:cNvSpPr txBox="1"/>
          <p:nvPr/>
        </p:nvSpPr>
        <p:spPr>
          <a:xfrm>
            <a:off x="589790" y="1097279"/>
            <a:ext cx="23073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A9CFE8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1100"/>
          </a:p>
        </p:txBody>
      </p:sp>
      <p:sp>
        <p:nvSpPr>
          <p:cNvPr id="218" name="Google Shape;218;p28"/>
          <p:cNvSpPr txBox="1"/>
          <p:nvPr/>
        </p:nvSpPr>
        <p:spPr>
          <a:xfrm>
            <a:off x="589790" y="1316736"/>
            <a:ext cx="2307337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Establishing the benchmarks</a:t>
            </a:r>
            <a:endParaRPr sz="1100"/>
          </a:p>
        </p:txBody>
      </p:sp>
      <p:sp>
        <p:nvSpPr>
          <p:cNvPr id="219" name="Google Shape;219;p28"/>
          <p:cNvSpPr txBox="1"/>
          <p:nvPr/>
        </p:nvSpPr>
        <p:spPr>
          <a:xfrm>
            <a:off x="589790" y="1632204"/>
            <a:ext cx="2307337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Rössler et al., ICCV 2019</a:t>
            </a:r>
            <a:endParaRPr sz="1100"/>
          </a:p>
        </p:txBody>
      </p:sp>
      <p:sp>
        <p:nvSpPr>
          <p:cNvPr id="220" name="Google Shape;220;p28"/>
          <p:cNvSpPr txBox="1"/>
          <p:nvPr/>
        </p:nvSpPr>
        <p:spPr>
          <a:xfrm>
            <a:off x="589790" y="1793367"/>
            <a:ext cx="2307337" cy="699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FaceForensics++: four manipulation methods at three compression levels. XceptionNet reaches high in-domain accuracy that falls sharply once quality drops.</a:t>
            </a:r>
            <a:endParaRPr sz="1100"/>
          </a:p>
        </p:txBody>
      </p:sp>
      <p:sp>
        <p:nvSpPr>
          <p:cNvPr id="221" name="Google Shape;221;p28"/>
          <p:cNvSpPr txBox="1"/>
          <p:nvPr/>
        </p:nvSpPr>
        <p:spPr>
          <a:xfrm>
            <a:off x="589790" y="2511399"/>
            <a:ext cx="2307337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Li et al., CVPR 2020</a:t>
            </a:r>
            <a:endParaRPr sz="1100"/>
          </a:p>
        </p:txBody>
      </p:sp>
      <p:sp>
        <p:nvSpPr>
          <p:cNvPr id="222" name="Google Shape;222;p28"/>
          <p:cNvSpPr txBox="1"/>
          <p:nvPr/>
        </p:nvSpPr>
        <p:spPr>
          <a:xfrm>
            <a:off x="589790" y="2672562"/>
            <a:ext cx="2307337" cy="699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Celeb-DF. Their key finding is negative: detectors scoring above 0.98 on older corpora fall to ≈0.65 on Celeb-DF.</a:t>
            </a:r>
            <a:endParaRPr sz="1100"/>
          </a:p>
        </p:txBody>
      </p:sp>
      <p:sp>
        <p:nvSpPr>
          <p:cNvPr id="223" name="Google Shape;223;p28"/>
          <p:cNvSpPr txBox="1"/>
          <p:nvPr/>
        </p:nvSpPr>
        <p:spPr>
          <a:xfrm>
            <a:off x="589790" y="3235947"/>
            <a:ext cx="2307337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Dolhansky et al., 2020</a:t>
            </a:r>
            <a:endParaRPr sz="1100"/>
          </a:p>
        </p:txBody>
      </p:sp>
      <p:sp>
        <p:nvSpPr>
          <p:cNvPr id="224" name="Google Shape;224;p28"/>
          <p:cNvSpPr txBox="1"/>
          <p:nvPr/>
        </p:nvSpPr>
        <p:spPr>
          <a:xfrm>
            <a:off x="589790" y="3397110"/>
            <a:ext cx="2307337" cy="699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DFDC at industrial scale — the winning challenge entry reaches only 0.65 on an unseen test set.</a:t>
            </a:r>
            <a:endParaRPr sz="1100"/>
          </a:p>
        </p:txBody>
      </p:sp>
      <p:sp>
        <p:nvSpPr>
          <p:cNvPr id="225" name="Google Shape;225;p28"/>
          <p:cNvSpPr txBox="1"/>
          <p:nvPr/>
        </p:nvSpPr>
        <p:spPr>
          <a:xfrm>
            <a:off x="589790" y="4032503"/>
            <a:ext cx="2307337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The benchmark itself exposed the transfer problem.</a:t>
            </a:r>
            <a:endParaRPr sz="1100"/>
          </a:p>
        </p:txBody>
      </p:sp>
      <p:sp>
        <p:nvSpPr>
          <p:cNvPr id="226" name="Google Shape;226;p28"/>
          <p:cNvSpPr/>
          <p:nvPr/>
        </p:nvSpPr>
        <p:spPr>
          <a:xfrm>
            <a:off x="3253745" y="946404"/>
            <a:ext cx="2636523" cy="3470148"/>
          </a:xfrm>
          <a:prstGeom prst="roundRect">
            <a:avLst>
              <a:gd fmla="val 2861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8"/>
          <p:cNvSpPr txBox="1"/>
          <p:nvPr/>
        </p:nvSpPr>
        <p:spPr>
          <a:xfrm>
            <a:off x="3418338" y="1097279"/>
            <a:ext cx="23073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A9CFE8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1100"/>
          </a:p>
        </p:txBody>
      </p:sp>
      <p:sp>
        <p:nvSpPr>
          <p:cNvPr id="228" name="Google Shape;228;p28"/>
          <p:cNvSpPr txBox="1"/>
          <p:nvPr/>
        </p:nvSpPr>
        <p:spPr>
          <a:xfrm>
            <a:off x="3418338" y="1316736"/>
            <a:ext cx="2307337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Attacking it by architecture</a:t>
            </a:r>
            <a:endParaRPr sz="1100"/>
          </a:p>
        </p:txBody>
      </p:sp>
      <p:sp>
        <p:nvSpPr>
          <p:cNvPr id="229" name="Google Shape;229;p28"/>
          <p:cNvSpPr txBox="1"/>
          <p:nvPr/>
        </p:nvSpPr>
        <p:spPr>
          <a:xfrm>
            <a:off x="3418338" y="1632204"/>
            <a:ext cx="2307337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Qian et al., ECCV 2020</a:t>
            </a:r>
            <a:endParaRPr sz="1100"/>
          </a:p>
        </p:txBody>
      </p:sp>
      <p:sp>
        <p:nvSpPr>
          <p:cNvPr id="230" name="Google Shape;230;p28"/>
          <p:cNvSpPr txBox="1"/>
          <p:nvPr/>
        </p:nvSpPr>
        <p:spPr>
          <a:xfrm>
            <a:off x="3418338" y="1793367"/>
            <a:ext cx="2307337" cy="699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F³-Net moves into the frequency domain: spectral traces are more stable across generators than pixel texture.</a:t>
            </a:r>
            <a:endParaRPr sz="1100"/>
          </a:p>
        </p:txBody>
      </p:sp>
      <p:sp>
        <p:nvSpPr>
          <p:cNvPr id="231" name="Google Shape;231;p28"/>
          <p:cNvSpPr txBox="1"/>
          <p:nvPr/>
        </p:nvSpPr>
        <p:spPr>
          <a:xfrm>
            <a:off x="3418338" y="2341664"/>
            <a:ext cx="2307337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Haliassos et al., CVPR 2021</a:t>
            </a:r>
            <a:endParaRPr sz="1100"/>
          </a:p>
        </p:txBody>
      </p:sp>
      <p:sp>
        <p:nvSpPr>
          <p:cNvPr id="232" name="Google Shape;232;p28"/>
          <p:cNvSpPr txBox="1"/>
          <p:nvPr/>
        </p:nvSpPr>
        <p:spPr>
          <a:xfrm>
            <a:off x="3418338" y="2502827"/>
            <a:ext cx="2307337" cy="699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LipForensics uses temporal mouth dynamics to reach 0.824 on unseen Celeb-DF.</a:t>
            </a:r>
            <a:endParaRPr sz="1100"/>
          </a:p>
        </p:txBody>
      </p:sp>
      <p:sp>
        <p:nvSpPr>
          <p:cNvPr id="233" name="Google Shape;233;p28"/>
          <p:cNvSpPr txBox="1"/>
          <p:nvPr/>
        </p:nvSpPr>
        <p:spPr>
          <a:xfrm>
            <a:off x="3418338" y="2926652"/>
            <a:ext cx="2307337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Shiohara &amp; Yamasaki, CVPR 2022</a:t>
            </a:r>
            <a:endParaRPr sz="1100"/>
          </a:p>
        </p:txBody>
      </p:sp>
      <p:sp>
        <p:nvSpPr>
          <p:cNvPr id="234" name="Google Shape;234;p28"/>
          <p:cNvSpPr txBox="1"/>
          <p:nvPr/>
        </p:nvSpPr>
        <p:spPr>
          <a:xfrm>
            <a:off x="3418338" y="3087814"/>
            <a:ext cx="2307337" cy="699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Self-blended images — forgeries synthesized from a single pristine image generalize better than real ones, reaching 0.932.</a:t>
            </a:r>
            <a:endParaRPr sz="1100"/>
          </a:p>
        </p:txBody>
      </p:sp>
      <p:sp>
        <p:nvSpPr>
          <p:cNvPr id="235" name="Google Shape;235;p28"/>
          <p:cNvSpPr txBox="1"/>
          <p:nvPr/>
        </p:nvSpPr>
        <p:spPr>
          <a:xfrm>
            <a:off x="3418338" y="4032503"/>
            <a:ext cx="2307337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Specialized signals beat generic CNNs on transfer.</a:t>
            </a:r>
            <a:endParaRPr sz="1100"/>
          </a:p>
        </p:txBody>
      </p:sp>
      <p:sp>
        <p:nvSpPr>
          <p:cNvPr id="236" name="Google Shape;236;p28"/>
          <p:cNvSpPr/>
          <p:nvPr/>
        </p:nvSpPr>
        <p:spPr>
          <a:xfrm>
            <a:off x="6082293" y="946404"/>
            <a:ext cx="2636523" cy="3470148"/>
          </a:xfrm>
          <a:prstGeom prst="roundRect">
            <a:avLst>
              <a:gd fmla="val 2861" name="adj"/>
            </a:avLst>
          </a:prstGeom>
          <a:solidFill>
            <a:srgbClr val="F6FA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8"/>
          <p:cNvSpPr txBox="1"/>
          <p:nvPr/>
        </p:nvSpPr>
        <p:spPr>
          <a:xfrm>
            <a:off x="6246886" y="1097279"/>
            <a:ext cx="23073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A9CFE8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1100"/>
          </a:p>
        </p:txBody>
      </p:sp>
      <p:sp>
        <p:nvSpPr>
          <p:cNvPr id="238" name="Google Shape;238;p28"/>
          <p:cNvSpPr txBox="1"/>
          <p:nvPr/>
        </p:nvSpPr>
        <p:spPr>
          <a:xfrm>
            <a:off x="6246886" y="1316736"/>
            <a:ext cx="2307337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Fixing the methodology</a:t>
            </a:r>
            <a:endParaRPr sz="1100"/>
          </a:p>
        </p:txBody>
      </p:sp>
      <p:sp>
        <p:nvSpPr>
          <p:cNvPr id="239" name="Google Shape;239;p28"/>
          <p:cNvSpPr txBox="1"/>
          <p:nvPr/>
        </p:nvSpPr>
        <p:spPr>
          <a:xfrm>
            <a:off x="6246886" y="1632204"/>
            <a:ext cx="2307337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Yan et al., NeurIPS 2023</a:t>
            </a:r>
            <a:endParaRPr sz="1100"/>
          </a:p>
        </p:txBody>
      </p:sp>
      <p:sp>
        <p:nvSpPr>
          <p:cNvPr id="240" name="Google Shape;240;p28"/>
          <p:cNvSpPr txBox="1"/>
          <p:nvPr/>
        </p:nvSpPr>
        <p:spPr>
          <a:xfrm>
            <a:off x="6246886" y="1793367"/>
            <a:ext cx="2307337" cy="699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DeepfakeBench re-implements fifteen detectors under one protocol and shows much of the reported difference comes from inconsistent evaluation.</a:t>
            </a:r>
            <a:endParaRPr sz="1100"/>
          </a:p>
        </p:txBody>
      </p:sp>
      <p:sp>
        <p:nvSpPr>
          <p:cNvPr id="241" name="Google Shape;241;p28"/>
          <p:cNvSpPr txBox="1"/>
          <p:nvPr/>
        </p:nvSpPr>
        <p:spPr>
          <a:xfrm>
            <a:off x="6246886" y="2466137"/>
            <a:ext cx="2307337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Hendrycks &amp; Dietterich, ICLR 2019</a:t>
            </a:r>
            <a:endParaRPr sz="1100"/>
          </a:p>
        </p:txBody>
      </p:sp>
      <p:sp>
        <p:nvSpPr>
          <p:cNvPr id="242" name="Google Shape;242;p28"/>
          <p:cNvSpPr txBox="1"/>
          <p:nvPr/>
        </p:nvSpPr>
        <p:spPr>
          <a:xfrm>
            <a:off x="6246886" y="2627300"/>
            <a:ext cx="2307337" cy="699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The corruption-robustness methodology this project borrows, including holding corruption types out of training so robustness is separable from memorization.</a:t>
            </a:r>
            <a:endParaRPr sz="1100"/>
          </a:p>
        </p:txBody>
      </p:sp>
      <p:sp>
        <p:nvSpPr>
          <p:cNvPr id="243" name="Google Shape;243;p28"/>
          <p:cNvSpPr txBox="1"/>
          <p:nvPr/>
        </p:nvSpPr>
        <p:spPr>
          <a:xfrm>
            <a:off x="6246886" y="4032503"/>
            <a:ext cx="2307337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Protocol, not architecture, explains many published gaps.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9"/>
          <p:cNvSpPr txBox="1"/>
          <p:nvPr/>
        </p:nvSpPr>
        <p:spPr>
          <a:xfrm>
            <a:off x="425198" y="4855464"/>
            <a:ext cx="6220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Cross-Dataset Generalization and Robustness of Deepfake Detection</a:t>
            </a:r>
            <a:endParaRPr sz="1100"/>
          </a:p>
        </p:txBody>
      </p:sp>
      <p:sp>
        <p:nvSpPr>
          <p:cNvPr id="250" name="Google Shape;250;p29"/>
          <p:cNvSpPr txBox="1"/>
          <p:nvPr/>
        </p:nvSpPr>
        <p:spPr>
          <a:xfrm>
            <a:off x="7758693" y="4855464"/>
            <a:ext cx="960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5 / 19</a:t>
            </a:r>
            <a:endParaRPr sz="1100"/>
          </a:p>
        </p:txBody>
      </p:sp>
      <p:sp>
        <p:nvSpPr>
          <p:cNvPr id="251" name="Google Shape;251;p29"/>
          <p:cNvSpPr txBox="1"/>
          <p:nvPr/>
        </p:nvSpPr>
        <p:spPr>
          <a:xfrm>
            <a:off x="425198" y="315468"/>
            <a:ext cx="8293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sz="1100"/>
          </a:p>
        </p:txBody>
      </p:sp>
      <p:sp>
        <p:nvSpPr>
          <p:cNvPr id="252" name="Google Shape;252;p29"/>
          <p:cNvSpPr txBox="1"/>
          <p:nvPr/>
        </p:nvSpPr>
        <p:spPr>
          <a:xfrm>
            <a:off x="425198" y="521208"/>
            <a:ext cx="82935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Five gaps this project addresses</a:t>
            </a:r>
            <a:endParaRPr sz="1100"/>
          </a:p>
        </p:txBody>
      </p:sp>
      <p:sp>
        <p:nvSpPr>
          <p:cNvPr id="253" name="Google Shape;253;p29"/>
          <p:cNvSpPr txBox="1"/>
          <p:nvPr/>
        </p:nvSpPr>
        <p:spPr>
          <a:xfrm>
            <a:off x="425198" y="932688"/>
            <a:ext cx="829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Reading those three lines together, the same weaknesses recur.</a:t>
            </a:r>
            <a:endParaRPr sz="1100"/>
          </a:p>
        </p:txBody>
      </p:sp>
      <p:sp>
        <p:nvSpPr>
          <p:cNvPr id="254" name="Google Shape;254;p29"/>
          <p:cNvSpPr/>
          <p:nvPr/>
        </p:nvSpPr>
        <p:spPr>
          <a:xfrm>
            <a:off x="425198" y="1248155"/>
            <a:ext cx="4044000" cy="932700"/>
          </a:xfrm>
          <a:prstGeom prst="roundRect">
            <a:avLst>
              <a:gd fmla="val 8088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9"/>
          <p:cNvSpPr/>
          <p:nvPr/>
        </p:nvSpPr>
        <p:spPr>
          <a:xfrm>
            <a:off x="562358" y="1385315"/>
            <a:ext cx="301800" cy="301800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G1</a:t>
            </a:r>
            <a:endParaRPr sz="1100"/>
          </a:p>
        </p:txBody>
      </p:sp>
      <p:sp>
        <p:nvSpPr>
          <p:cNvPr id="256" name="Google Shape;256;p29"/>
          <p:cNvSpPr txBox="1"/>
          <p:nvPr/>
        </p:nvSpPr>
        <p:spPr>
          <a:xfrm>
            <a:off x="973836" y="1295400"/>
            <a:ext cx="3330600" cy="8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Leave-one-out is rarely posed</a:t>
            </a:r>
            <a:endParaRPr b="1" sz="1100">
              <a:solidFill>
                <a:srgbClr val="1C2B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Cross-dataset transfer is almost always reported pairwise. The harder question — train on two corpora, test on an unseen third — is seldom asked.</a:t>
            </a:r>
            <a:endParaRPr b="0" sz="900">
              <a:solidFill>
                <a:srgbClr val="6E82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OUR RESPONSE   </a:t>
            </a:r>
            <a:r>
              <a:rPr b="1" lang="en" sz="900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We run all three leave-one-out folds.</a:t>
            </a:r>
            <a:endParaRPr b="1" sz="700">
              <a:solidFill>
                <a:srgbClr val="2E6F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9"/>
          <p:cNvSpPr/>
          <p:nvPr/>
        </p:nvSpPr>
        <p:spPr>
          <a:xfrm>
            <a:off x="4674877" y="1248155"/>
            <a:ext cx="4044000" cy="932700"/>
          </a:xfrm>
          <a:prstGeom prst="roundRect">
            <a:avLst>
              <a:gd fmla="val 8088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9"/>
          <p:cNvSpPr/>
          <p:nvPr/>
        </p:nvSpPr>
        <p:spPr>
          <a:xfrm>
            <a:off x="4812038" y="1385315"/>
            <a:ext cx="301800" cy="301800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G2</a:t>
            </a:r>
            <a:endParaRPr sz="1100"/>
          </a:p>
        </p:txBody>
      </p:sp>
      <p:sp>
        <p:nvSpPr>
          <p:cNvPr id="259" name="Google Shape;259;p29"/>
          <p:cNvSpPr txBox="1"/>
          <p:nvPr/>
        </p:nvSpPr>
        <p:spPr>
          <a:xfrm>
            <a:off x="5223520" y="1295400"/>
            <a:ext cx="3330600" cy="8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Robustness and generalization are studied apart</a:t>
            </a:r>
            <a:endParaRPr b="1" sz="1100">
              <a:solidFill>
                <a:srgbClr val="1C2B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A deployed detector faces an unseen manipulation and social-media recompression at the same time. The literature studies them separately.</a:t>
            </a:r>
            <a:endParaRPr b="0" sz="900">
              <a:solidFill>
                <a:srgbClr val="6E82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OUR RESPONSE   </a:t>
            </a:r>
            <a:r>
              <a:rPr b="1" lang="en" sz="900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We degrade the out-of-domain models.</a:t>
            </a:r>
            <a:endParaRPr b="1" sz="700">
              <a:solidFill>
                <a:srgbClr val="2E6F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9"/>
          <p:cNvSpPr/>
          <p:nvPr/>
        </p:nvSpPr>
        <p:spPr>
          <a:xfrm>
            <a:off x="425198" y="2290572"/>
            <a:ext cx="4044000" cy="932700"/>
          </a:xfrm>
          <a:prstGeom prst="roundRect">
            <a:avLst>
              <a:gd fmla="val 8088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9"/>
          <p:cNvSpPr/>
          <p:nvPr/>
        </p:nvSpPr>
        <p:spPr>
          <a:xfrm>
            <a:off x="562358" y="2427731"/>
            <a:ext cx="301800" cy="301800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G3</a:t>
            </a:r>
            <a:endParaRPr sz="1100"/>
          </a:p>
        </p:txBody>
      </p:sp>
      <p:sp>
        <p:nvSpPr>
          <p:cNvPr id="262" name="Google Shape;262;p29"/>
          <p:cNvSpPr txBox="1"/>
          <p:nvPr/>
        </p:nvSpPr>
        <p:spPr>
          <a:xfrm>
            <a:off x="973836" y="2338197"/>
            <a:ext cx="3330600" cy="8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Robustness is tested on the corruptions used for augmentation</a:t>
            </a:r>
            <a:endParaRPr b="1" sz="1100">
              <a:solidFill>
                <a:srgbClr val="1C2B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Which cannot distinguish a genuinely robust model from one that has memorized a fixed set of distortions.</a:t>
            </a:r>
            <a:endParaRPr b="0" sz="900">
              <a:solidFill>
                <a:srgbClr val="6E82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OUR RESPONSE   </a:t>
            </a:r>
            <a:r>
              <a:rPr b="1" lang="en" sz="900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We withhold corruption families entirely.</a:t>
            </a:r>
            <a:endParaRPr b="1" sz="700">
              <a:solidFill>
                <a:srgbClr val="2E6F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9"/>
          <p:cNvSpPr/>
          <p:nvPr/>
        </p:nvSpPr>
        <p:spPr>
          <a:xfrm>
            <a:off x="4674877" y="2290572"/>
            <a:ext cx="4044000" cy="932700"/>
          </a:xfrm>
          <a:prstGeom prst="roundRect">
            <a:avLst>
              <a:gd fmla="val 8088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9"/>
          <p:cNvSpPr/>
          <p:nvPr/>
        </p:nvSpPr>
        <p:spPr>
          <a:xfrm>
            <a:off x="4812038" y="2427731"/>
            <a:ext cx="301800" cy="301800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G4</a:t>
            </a:r>
            <a:endParaRPr sz="1100"/>
          </a:p>
        </p:txBody>
      </p:sp>
      <p:sp>
        <p:nvSpPr>
          <p:cNvPr id="265" name="Google Shape;265;p29"/>
          <p:cNvSpPr txBox="1"/>
          <p:nvPr/>
        </p:nvSpPr>
        <p:spPr>
          <a:xfrm>
            <a:off x="5223520" y="2338197"/>
            <a:ext cx="3330600" cy="8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Results are point estimates without intervals</a:t>
            </a:r>
            <a:endParaRPr b="1" sz="1100">
              <a:solidFill>
                <a:srgbClr val="1C2B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A few hundred videos, no confidence intervals — so one- or two-point differences get treated as real when they are indistinguishable from noise.</a:t>
            </a:r>
            <a:endParaRPr b="0" sz="900">
              <a:solidFill>
                <a:srgbClr val="6E82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OUR RESPONSE   </a:t>
            </a:r>
            <a:r>
              <a:rPr b="1" lang="en" sz="900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Every difference carries a 2 000-replicate bootstrap CI.</a:t>
            </a:r>
            <a:endParaRPr b="1" sz="700">
              <a:solidFill>
                <a:srgbClr val="2E6F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9"/>
          <p:cNvSpPr/>
          <p:nvPr/>
        </p:nvSpPr>
        <p:spPr>
          <a:xfrm>
            <a:off x="425198" y="3332987"/>
            <a:ext cx="8293500" cy="932700"/>
          </a:xfrm>
          <a:prstGeom prst="roundRect">
            <a:avLst>
              <a:gd fmla="val 8088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9"/>
          <p:cNvSpPr/>
          <p:nvPr/>
        </p:nvSpPr>
        <p:spPr>
          <a:xfrm>
            <a:off x="562358" y="3470148"/>
            <a:ext cx="301800" cy="301800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G5</a:t>
            </a:r>
            <a:endParaRPr sz="1100"/>
          </a:p>
        </p:txBody>
      </p:sp>
      <p:sp>
        <p:nvSpPr>
          <p:cNvPr id="268" name="Google Shape;268;p29"/>
          <p:cNvSpPr txBox="1"/>
          <p:nvPr/>
        </p:nvSpPr>
        <p:spPr>
          <a:xfrm>
            <a:off x="973836" y="3380613"/>
            <a:ext cx="7580400" cy="8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Splits are formed per frame, not per identity</a:t>
            </a:r>
            <a:endParaRPr b="1" sz="1100">
              <a:solidFill>
                <a:srgbClr val="1C2B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Frames of one video are near-duplicates. A per-frame split leaks the same face across the boundary and inflates every downstream number.</a:t>
            </a:r>
            <a:endParaRPr b="0" sz="900">
              <a:solidFill>
                <a:srgbClr val="6E82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OUR RESPONSE   </a:t>
            </a:r>
            <a:r>
              <a:rPr b="1" lang="en" sz="900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Union–find identity grouping with zero-overlap assertions.</a:t>
            </a:r>
            <a:endParaRPr b="1" sz="700">
              <a:solidFill>
                <a:srgbClr val="2E6F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0"/>
          <p:cNvSpPr txBox="1"/>
          <p:nvPr/>
        </p:nvSpPr>
        <p:spPr>
          <a:xfrm>
            <a:off x="425198" y="4855464"/>
            <a:ext cx="622021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Cross-Dataset Generalization and Robustness of Deepfake Detection</a:t>
            </a:r>
            <a:endParaRPr sz="1100"/>
          </a:p>
        </p:txBody>
      </p:sp>
      <p:sp>
        <p:nvSpPr>
          <p:cNvPr id="275" name="Google Shape;275;p30"/>
          <p:cNvSpPr txBox="1"/>
          <p:nvPr/>
        </p:nvSpPr>
        <p:spPr>
          <a:xfrm>
            <a:off x="7758693" y="4855464"/>
            <a:ext cx="9601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6 / 19</a:t>
            </a:r>
            <a:endParaRPr sz="1100"/>
          </a:p>
        </p:txBody>
      </p:sp>
      <p:sp>
        <p:nvSpPr>
          <p:cNvPr id="276" name="Google Shape;276;p30"/>
          <p:cNvSpPr txBox="1"/>
          <p:nvPr/>
        </p:nvSpPr>
        <p:spPr>
          <a:xfrm>
            <a:off x="425198" y="315468"/>
            <a:ext cx="829361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sz="1100"/>
          </a:p>
        </p:txBody>
      </p:sp>
      <p:sp>
        <p:nvSpPr>
          <p:cNvPr id="277" name="Google Shape;277;p30"/>
          <p:cNvSpPr txBox="1"/>
          <p:nvPr/>
        </p:nvSpPr>
        <p:spPr>
          <a:xfrm>
            <a:off x="425198" y="521208"/>
            <a:ext cx="8293619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Complete system pipeline</a:t>
            </a:r>
            <a:endParaRPr sz="1100"/>
          </a:p>
        </p:txBody>
      </p:sp>
      <p:sp>
        <p:nvSpPr>
          <p:cNvPr id="278" name="Google Shape;278;p30"/>
          <p:cNvSpPr txBox="1"/>
          <p:nvPr/>
        </p:nvSpPr>
        <p:spPr>
          <a:xfrm>
            <a:off x="425198" y="932688"/>
            <a:ext cx="829361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Four stages. One backbone. Every stage is held fixed so that data and protocol are the only variables.</a:t>
            </a:r>
            <a:endParaRPr sz="1100"/>
          </a:p>
        </p:txBody>
      </p:sp>
      <p:sp>
        <p:nvSpPr>
          <p:cNvPr id="279" name="Google Shape;279;p30"/>
          <p:cNvSpPr/>
          <p:nvPr/>
        </p:nvSpPr>
        <p:spPr>
          <a:xfrm>
            <a:off x="425198" y="1220723"/>
            <a:ext cx="1919099" cy="2688336"/>
          </a:xfrm>
          <a:prstGeom prst="roundRect">
            <a:avLst>
              <a:gd fmla="val 3930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0"/>
          <p:cNvSpPr/>
          <p:nvPr/>
        </p:nvSpPr>
        <p:spPr>
          <a:xfrm>
            <a:off x="589790" y="1371599"/>
            <a:ext cx="589790" cy="205740"/>
          </a:xfrm>
          <a:prstGeom prst="roundRect">
            <a:avLst>
              <a:gd fmla="val 23333" name="adj"/>
            </a:avLst>
          </a:prstGeom>
          <a:solidFill>
            <a:srgbClr val="2E6F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0"/>
          <p:cNvSpPr txBox="1"/>
          <p:nvPr/>
        </p:nvSpPr>
        <p:spPr>
          <a:xfrm>
            <a:off x="589790" y="1416176"/>
            <a:ext cx="58979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1100"/>
          </a:p>
        </p:txBody>
      </p:sp>
      <p:sp>
        <p:nvSpPr>
          <p:cNvPr id="282" name="Google Shape;282;p30"/>
          <p:cNvSpPr txBox="1"/>
          <p:nvPr/>
        </p:nvSpPr>
        <p:spPr>
          <a:xfrm>
            <a:off x="589790" y="1659636"/>
            <a:ext cx="158991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Ingestion &amp; identity recovery</a:t>
            </a:r>
            <a:endParaRPr sz="1100"/>
          </a:p>
        </p:txBody>
      </p:sp>
      <p:sp>
        <p:nvSpPr>
          <p:cNvPr id="283" name="Google Shape;283;p30"/>
          <p:cNvSpPr txBox="1"/>
          <p:nvPr/>
        </p:nvSpPr>
        <p:spPr>
          <a:xfrm>
            <a:off x="589790" y="2112264"/>
            <a:ext cx="1589914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0650" lvl="0" marL="11430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A9CFE8"/>
              </a:buClr>
              <a:buSzPts val="900"/>
              <a:buFont typeface="Arial"/>
              <a:buChar char="•"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Three corpora: Celeb-DF (v2), FF++, DFDC</a:t>
            </a:r>
            <a:endParaRPr sz="1100"/>
          </a:p>
          <a:p>
            <a:pPr indent="-120650" lvl="0" marL="11430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Clr>
                <a:srgbClr val="A9CFE8"/>
              </a:buClr>
              <a:buSzPts val="900"/>
              <a:buFont typeface="Arial"/>
              <a:buChar char="•"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Pre-extracted crops → 224×224, ImageNet norm</a:t>
            </a:r>
            <a:endParaRPr sz="1100"/>
          </a:p>
          <a:p>
            <a:pPr indent="-120650" lvl="0" marL="11430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Clr>
                <a:srgbClr val="A9CFE8"/>
              </a:buClr>
              <a:buSzPts val="900"/>
              <a:buFont typeface="Arial"/>
              <a:buChar char="•"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Per-corpus path parsing: frame → video ID</a:t>
            </a:r>
            <a:endParaRPr sz="1100"/>
          </a:p>
          <a:p>
            <a:pPr indent="-120650" lvl="0" marL="11430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Clr>
                <a:srgbClr val="A9CFE8"/>
              </a:buClr>
              <a:buSzPts val="900"/>
              <a:buFont typeface="Arial"/>
              <a:buChar char="•"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Union–find identity grouping (FF++)</a:t>
            </a:r>
            <a:endParaRPr sz="1100"/>
          </a:p>
        </p:txBody>
      </p:sp>
      <p:sp>
        <p:nvSpPr>
          <p:cNvPr id="284" name="Google Shape;284;p30"/>
          <p:cNvSpPr txBox="1"/>
          <p:nvPr/>
        </p:nvSpPr>
        <p:spPr>
          <a:xfrm>
            <a:off x="2354584" y="2455164"/>
            <a:ext cx="18516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/>
          </a:p>
        </p:txBody>
      </p:sp>
      <p:sp>
        <p:nvSpPr>
          <p:cNvPr id="285" name="Google Shape;285;p30"/>
          <p:cNvSpPr/>
          <p:nvPr/>
        </p:nvSpPr>
        <p:spPr>
          <a:xfrm>
            <a:off x="2550037" y="1220723"/>
            <a:ext cx="1919099" cy="2688336"/>
          </a:xfrm>
          <a:prstGeom prst="roundRect">
            <a:avLst>
              <a:gd fmla="val 3930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0"/>
          <p:cNvSpPr/>
          <p:nvPr/>
        </p:nvSpPr>
        <p:spPr>
          <a:xfrm>
            <a:off x="2714630" y="1371599"/>
            <a:ext cx="589790" cy="205740"/>
          </a:xfrm>
          <a:prstGeom prst="roundRect">
            <a:avLst>
              <a:gd fmla="val 23333" name="adj"/>
            </a:avLst>
          </a:prstGeom>
          <a:solidFill>
            <a:srgbClr val="5B9B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0"/>
          <p:cNvSpPr txBox="1"/>
          <p:nvPr/>
        </p:nvSpPr>
        <p:spPr>
          <a:xfrm>
            <a:off x="2714630" y="1416176"/>
            <a:ext cx="58979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SPLIT</a:t>
            </a:r>
            <a:endParaRPr sz="1100"/>
          </a:p>
        </p:txBody>
      </p:sp>
      <p:sp>
        <p:nvSpPr>
          <p:cNvPr id="288" name="Google Shape;288;p30"/>
          <p:cNvSpPr txBox="1"/>
          <p:nvPr/>
        </p:nvSpPr>
        <p:spPr>
          <a:xfrm>
            <a:off x="2714630" y="1659636"/>
            <a:ext cx="158991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Leakage-safe splitting</a:t>
            </a:r>
            <a:endParaRPr sz="1100"/>
          </a:p>
        </p:txBody>
      </p:sp>
      <p:sp>
        <p:nvSpPr>
          <p:cNvPr id="289" name="Google Shape;289;p30"/>
          <p:cNvSpPr txBox="1"/>
          <p:nvPr/>
        </p:nvSpPr>
        <p:spPr>
          <a:xfrm>
            <a:off x="2714630" y="2112264"/>
            <a:ext cx="1589914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0650" lvl="0" marL="11430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A9CFE8"/>
              </a:buClr>
              <a:buSzPts val="900"/>
              <a:buFont typeface="Arial"/>
              <a:buChar char="•"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GroupShuffleSplit 70 / 15 / 15 on group</a:t>
            </a:r>
            <a:endParaRPr sz="1100"/>
          </a:p>
          <a:p>
            <a:pPr indent="-120650" lvl="0" marL="11430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Clr>
                <a:srgbClr val="A9CFE8"/>
              </a:buClr>
              <a:buSzPts val="900"/>
              <a:buFont typeface="Arial"/>
              <a:buChar char="•"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Zero-overlap assertion on group and video</a:t>
            </a:r>
            <a:endParaRPr sz="1100"/>
          </a:p>
          <a:p>
            <a:pPr indent="-120650" lvl="0" marL="11430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Clr>
                <a:srgbClr val="A9CFE8"/>
              </a:buClr>
              <a:buSzPts val="900"/>
              <a:buFont typeface="Arial"/>
              <a:buChar char="•"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Domain-balanced cap: 30 000 images / source</a:t>
            </a:r>
            <a:endParaRPr sz="1100"/>
          </a:p>
          <a:p>
            <a:pPr indent="-120650" lvl="0" marL="11430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Clr>
                <a:srgbClr val="A9CFE8"/>
              </a:buClr>
              <a:buSzPts val="900"/>
              <a:buFont typeface="Arial"/>
              <a:buChar char="•"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Weighted sampler + augmentation ladder</a:t>
            </a:r>
            <a:endParaRPr sz="1100"/>
          </a:p>
        </p:txBody>
      </p:sp>
      <p:sp>
        <p:nvSpPr>
          <p:cNvPr id="290" name="Google Shape;290;p30"/>
          <p:cNvSpPr txBox="1"/>
          <p:nvPr/>
        </p:nvSpPr>
        <p:spPr>
          <a:xfrm>
            <a:off x="4479423" y="2455164"/>
            <a:ext cx="18516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/>
          </a:p>
        </p:txBody>
      </p:sp>
      <p:sp>
        <p:nvSpPr>
          <p:cNvPr id="291" name="Google Shape;291;p30"/>
          <p:cNvSpPr/>
          <p:nvPr/>
        </p:nvSpPr>
        <p:spPr>
          <a:xfrm>
            <a:off x="4674877" y="1220723"/>
            <a:ext cx="1919099" cy="2688336"/>
          </a:xfrm>
          <a:prstGeom prst="roundRect">
            <a:avLst>
              <a:gd fmla="val 3930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0"/>
          <p:cNvSpPr/>
          <p:nvPr/>
        </p:nvSpPr>
        <p:spPr>
          <a:xfrm>
            <a:off x="4839470" y="1371599"/>
            <a:ext cx="589790" cy="205740"/>
          </a:xfrm>
          <a:prstGeom prst="roundRect">
            <a:avLst>
              <a:gd fmla="val 23333" name="adj"/>
            </a:avLst>
          </a:prstGeom>
          <a:solidFill>
            <a:srgbClr val="2E6F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0"/>
          <p:cNvSpPr txBox="1"/>
          <p:nvPr/>
        </p:nvSpPr>
        <p:spPr>
          <a:xfrm>
            <a:off x="4839470" y="1416176"/>
            <a:ext cx="58979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 sz="1100"/>
          </a:p>
        </p:txBody>
      </p:sp>
      <p:sp>
        <p:nvSpPr>
          <p:cNvPr id="294" name="Google Shape;294;p30"/>
          <p:cNvSpPr txBox="1"/>
          <p:nvPr/>
        </p:nvSpPr>
        <p:spPr>
          <a:xfrm>
            <a:off x="4839470" y="1659636"/>
            <a:ext cx="158991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Frame-level training</a:t>
            </a:r>
            <a:endParaRPr sz="1100"/>
          </a:p>
        </p:txBody>
      </p:sp>
      <p:sp>
        <p:nvSpPr>
          <p:cNvPr id="295" name="Google Shape;295;p30"/>
          <p:cNvSpPr txBox="1"/>
          <p:nvPr/>
        </p:nvSpPr>
        <p:spPr>
          <a:xfrm>
            <a:off x="4839470" y="2112264"/>
            <a:ext cx="1589914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0650" lvl="0" marL="11430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A9CFE8"/>
              </a:buClr>
              <a:buSzPts val="900"/>
              <a:buFont typeface="Arial"/>
              <a:buChar char="•"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EfficientNet-B0, ImageNet-init, 5.3 M params</a:t>
            </a:r>
            <a:endParaRPr sz="1100"/>
          </a:p>
          <a:p>
            <a:pPr indent="-120650" lvl="0" marL="11430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Clr>
                <a:srgbClr val="A9CFE8"/>
              </a:buClr>
              <a:buSzPts val="900"/>
              <a:buFont typeface="Arial"/>
              <a:buChar char="•"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AdamW · warm-up + cosine · AMP · EMA</a:t>
            </a:r>
            <a:endParaRPr sz="1100"/>
          </a:p>
          <a:p>
            <a:pPr indent="-120650" lvl="0" marL="11430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Clr>
                <a:srgbClr val="A9CFE8"/>
              </a:buClr>
              <a:buSzPts val="900"/>
              <a:buFont typeface="Arial"/>
              <a:buChar char="•"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Class-weighted binary cross-entropy</a:t>
            </a:r>
            <a:endParaRPr sz="1100"/>
          </a:p>
          <a:p>
            <a:pPr indent="-120650" lvl="0" marL="11430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Clr>
                <a:srgbClr val="A9CFE8"/>
              </a:buClr>
              <a:buSzPts val="900"/>
              <a:buFont typeface="Arial"/>
              <a:buChar char="•"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Video-level pooling: mean of ≤ 32 frames</a:t>
            </a:r>
            <a:endParaRPr sz="1100"/>
          </a:p>
        </p:txBody>
      </p:sp>
      <p:sp>
        <p:nvSpPr>
          <p:cNvPr id="296" name="Google Shape;296;p30"/>
          <p:cNvSpPr txBox="1"/>
          <p:nvPr/>
        </p:nvSpPr>
        <p:spPr>
          <a:xfrm>
            <a:off x="6604264" y="2455164"/>
            <a:ext cx="18516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/>
          </a:p>
        </p:txBody>
      </p:sp>
      <p:sp>
        <p:nvSpPr>
          <p:cNvPr id="297" name="Google Shape;297;p30"/>
          <p:cNvSpPr/>
          <p:nvPr/>
        </p:nvSpPr>
        <p:spPr>
          <a:xfrm>
            <a:off x="6799718" y="1220723"/>
            <a:ext cx="1919099" cy="2688336"/>
          </a:xfrm>
          <a:prstGeom prst="roundRect">
            <a:avLst>
              <a:gd fmla="val 3930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0"/>
          <p:cNvSpPr/>
          <p:nvPr/>
        </p:nvSpPr>
        <p:spPr>
          <a:xfrm>
            <a:off x="6964310" y="1371599"/>
            <a:ext cx="589790" cy="205740"/>
          </a:xfrm>
          <a:prstGeom prst="roundRect">
            <a:avLst>
              <a:gd fmla="val 23333" name="adj"/>
            </a:avLst>
          </a:prstGeom>
          <a:solidFill>
            <a:srgbClr val="C9644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0"/>
          <p:cNvSpPr txBox="1"/>
          <p:nvPr/>
        </p:nvSpPr>
        <p:spPr>
          <a:xfrm>
            <a:off x="6964310" y="1416176"/>
            <a:ext cx="58979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</a:t>
            </a:r>
            <a:endParaRPr sz="1100"/>
          </a:p>
        </p:txBody>
      </p:sp>
      <p:sp>
        <p:nvSpPr>
          <p:cNvPr id="300" name="Google Shape;300;p30"/>
          <p:cNvSpPr txBox="1"/>
          <p:nvPr/>
        </p:nvSpPr>
        <p:spPr>
          <a:xfrm>
            <a:off x="6964310" y="1659636"/>
            <a:ext cx="158991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Evaluation suite</a:t>
            </a:r>
            <a:endParaRPr sz="1100"/>
          </a:p>
        </p:txBody>
      </p:sp>
      <p:sp>
        <p:nvSpPr>
          <p:cNvPr id="301" name="Google Shape;301;p30"/>
          <p:cNvSpPr txBox="1"/>
          <p:nvPr/>
        </p:nvSpPr>
        <p:spPr>
          <a:xfrm>
            <a:off x="6964310" y="2112264"/>
            <a:ext cx="1589914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0650" lvl="0" marL="11430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A9CFE8"/>
              </a:buClr>
              <a:buSzPts val="900"/>
              <a:buFont typeface="Arial"/>
              <a:buChar char="•"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In-domain test + 3×3 transfer matrix</a:t>
            </a:r>
            <a:endParaRPr sz="1100"/>
          </a:p>
          <a:p>
            <a:pPr indent="-120650" lvl="0" marL="11430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Clr>
                <a:srgbClr val="A9CFE8"/>
              </a:buClr>
              <a:buSzPts val="900"/>
              <a:buFont typeface="Arial"/>
              <a:buChar char="•"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Leave-one-out: train on two, test on unseen third</a:t>
            </a:r>
            <a:endParaRPr sz="1100"/>
          </a:p>
          <a:p>
            <a:pPr indent="-120650" lvl="0" marL="11430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Clr>
                <a:srgbClr val="A9CFE8"/>
              </a:buClr>
              <a:buSzPts val="900"/>
              <a:buFont typeface="Arial"/>
              <a:buChar char="•"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Grad-CAM attention displacement (3 scalars)</a:t>
            </a:r>
            <a:endParaRPr sz="1100"/>
          </a:p>
          <a:p>
            <a:pPr indent="-120650" lvl="0" marL="11430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Clr>
                <a:srgbClr val="A9CFE8"/>
              </a:buClr>
              <a:buSzPts val="900"/>
              <a:buFont typeface="Arial"/>
              <a:buChar char="•"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Degradation ladders + 2 000-replicate bootstrap</a:t>
            </a:r>
            <a:endParaRPr sz="1100"/>
          </a:p>
        </p:txBody>
      </p:sp>
      <p:sp>
        <p:nvSpPr>
          <p:cNvPr id="302" name="Google Shape;302;p30"/>
          <p:cNvSpPr txBox="1"/>
          <p:nvPr/>
        </p:nvSpPr>
        <p:spPr>
          <a:xfrm>
            <a:off x="425198" y="4032504"/>
            <a:ext cx="829361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Identity grouping is the stage that matters most:  </a:t>
            </a:r>
            <a:r>
              <a:rPr b="1" i="0" lang="en" sz="9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it collapses 2 000 FaceForensics++ videos into 500 identity groups, so one face can never appear on both sides of a split.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1"/>
          <p:cNvSpPr txBox="1"/>
          <p:nvPr/>
        </p:nvSpPr>
        <p:spPr>
          <a:xfrm>
            <a:off x="425198" y="4855464"/>
            <a:ext cx="622021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Cross-Dataset Generalization and Robustness of Deepfake Detection</a:t>
            </a:r>
            <a:endParaRPr sz="1100"/>
          </a:p>
        </p:txBody>
      </p:sp>
      <p:sp>
        <p:nvSpPr>
          <p:cNvPr id="309" name="Google Shape;309;p31"/>
          <p:cNvSpPr txBox="1"/>
          <p:nvPr/>
        </p:nvSpPr>
        <p:spPr>
          <a:xfrm>
            <a:off x="7758693" y="4855464"/>
            <a:ext cx="9601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7 / 19</a:t>
            </a:r>
            <a:endParaRPr sz="1100"/>
          </a:p>
        </p:txBody>
      </p:sp>
      <p:sp>
        <p:nvSpPr>
          <p:cNvPr id="310" name="Google Shape;310;p31"/>
          <p:cNvSpPr txBox="1"/>
          <p:nvPr/>
        </p:nvSpPr>
        <p:spPr>
          <a:xfrm>
            <a:off x="425198" y="315468"/>
            <a:ext cx="829361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sz="1100"/>
          </a:p>
        </p:txBody>
      </p:sp>
      <p:sp>
        <p:nvSpPr>
          <p:cNvPr id="311" name="Google Shape;311;p31"/>
          <p:cNvSpPr txBox="1"/>
          <p:nvPr/>
        </p:nvSpPr>
        <p:spPr>
          <a:xfrm>
            <a:off x="425198" y="521208"/>
            <a:ext cx="8293619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Datasets and preprocessing</a:t>
            </a:r>
            <a:endParaRPr sz="1100"/>
          </a:p>
        </p:txBody>
      </p:sp>
      <p:sp>
        <p:nvSpPr>
          <p:cNvPr id="312" name="Google Shape;312;p31"/>
          <p:cNvSpPr txBox="1"/>
          <p:nvPr/>
        </p:nvSpPr>
        <p:spPr>
          <a:xfrm>
            <a:off x="425198" y="932688"/>
            <a:ext cx="829361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229 977 face crops over 8 909 videos. Photometric preprocessing is deliberately minimal — the protocol is the variable under study, not the pipeline.</a:t>
            </a:r>
            <a:endParaRPr sz="1100"/>
          </a:p>
        </p:txBody>
      </p:sp>
      <p:graphicFrame>
        <p:nvGraphicFramePr>
          <p:cNvPr id="313" name="Google Shape;313;p31"/>
          <p:cNvGraphicFramePr/>
          <p:nvPr/>
        </p:nvGraphicFramePr>
        <p:xfrm>
          <a:off x="425198" y="1248155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{E10E58A4-950C-4695-85A7-76B431A150F6}</a:tableStyleId>
              </a:tblPr>
              <a:tblGrid>
                <a:gridCol w="1861000"/>
                <a:gridCol w="809125"/>
                <a:gridCol w="970950"/>
                <a:gridCol w="1011400"/>
                <a:gridCol w="728200"/>
                <a:gridCol w="2912875"/>
              </a:tblGrid>
              <a:tr h="24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Corpus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Videos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Face crops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Frames / video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Forged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Split / note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2E6F9E"/>
                    </a:solidFill>
                  </a:tcPr>
                </a:tc>
              </a:tr>
              <a:tr h="24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Celeb-DF (v2)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6 528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65 381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10.0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86.4%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980-video held-out split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</a:tr>
              <a:tr h="24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FaceForensics++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2 000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39 949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20.0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50.0%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300-video split · 500 identity groups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</a:tr>
              <a:tr h="24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DFDC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381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124 647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327.2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80.1%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train_sample subset · only 58 test videos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</a:tr>
              <a:tr h="24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8 909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229 977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three independent sources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</a:tr>
            </a:tbl>
          </a:graphicData>
        </a:graphic>
      </p:graphicFrame>
      <p:sp>
        <p:nvSpPr>
          <p:cNvPr id="314" name="Google Shape;314;p31"/>
          <p:cNvSpPr txBox="1"/>
          <p:nvPr/>
        </p:nvSpPr>
        <p:spPr>
          <a:xfrm>
            <a:off x="425198" y="2592324"/>
            <a:ext cx="8293619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PREPROCESSING — IDENTICAL FOR EVERY MODEL</a:t>
            </a:r>
            <a:endParaRPr sz="1100"/>
          </a:p>
        </p:txBody>
      </p:sp>
      <p:sp>
        <p:nvSpPr>
          <p:cNvPr id="315" name="Google Shape;315;p31"/>
          <p:cNvSpPr/>
          <p:nvPr/>
        </p:nvSpPr>
        <p:spPr>
          <a:xfrm>
            <a:off x="425198" y="2825496"/>
            <a:ext cx="1960247" cy="425196"/>
          </a:xfrm>
          <a:prstGeom prst="roundRect">
            <a:avLst>
              <a:gd fmla="val 17741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534926" y="2880360"/>
            <a:ext cx="174079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Fixed-stride frame sampling</a:t>
            </a:r>
            <a:endParaRPr sz="1100"/>
          </a:p>
        </p:txBody>
      </p:sp>
      <p:sp>
        <p:nvSpPr>
          <p:cNvPr id="317" name="Google Shape;317;p31"/>
          <p:cNvSpPr txBox="1"/>
          <p:nvPr/>
        </p:nvSpPr>
        <p:spPr>
          <a:xfrm>
            <a:off x="2388874" y="2948940"/>
            <a:ext cx="144019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/>
          </a:p>
        </p:txBody>
      </p:sp>
      <p:sp>
        <p:nvSpPr>
          <p:cNvPr id="318" name="Google Shape;318;p31"/>
          <p:cNvSpPr/>
          <p:nvPr/>
        </p:nvSpPr>
        <p:spPr>
          <a:xfrm>
            <a:off x="2536321" y="2825496"/>
            <a:ext cx="1960247" cy="425196"/>
          </a:xfrm>
          <a:prstGeom prst="roundRect">
            <a:avLst>
              <a:gd fmla="val 17741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1"/>
          <p:cNvSpPr txBox="1"/>
          <p:nvPr/>
        </p:nvSpPr>
        <p:spPr>
          <a:xfrm>
            <a:off x="2646050" y="2880360"/>
            <a:ext cx="174079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Face detection + box expansion</a:t>
            </a:r>
            <a:endParaRPr sz="1100"/>
          </a:p>
        </p:txBody>
      </p:sp>
      <p:sp>
        <p:nvSpPr>
          <p:cNvPr id="320" name="Google Shape;320;p31"/>
          <p:cNvSpPr txBox="1"/>
          <p:nvPr/>
        </p:nvSpPr>
        <p:spPr>
          <a:xfrm>
            <a:off x="4499997" y="2948940"/>
            <a:ext cx="144019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/>
          </a:p>
        </p:txBody>
      </p:sp>
      <p:sp>
        <p:nvSpPr>
          <p:cNvPr id="321" name="Google Shape;321;p31"/>
          <p:cNvSpPr/>
          <p:nvPr/>
        </p:nvSpPr>
        <p:spPr>
          <a:xfrm>
            <a:off x="4647445" y="2825496"/>
            <a:ext cx="1960247" cy="425196"/>
          </a:xfrm>
          <a:prstGeom prst="roundRect">
            <a:avLst>
              <a:gd fmla="val 17741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1"/>
          <p:cNvSpPr txBox="1"/>
          <p:nvPr/>
        </p:nvSpPr>
        <p:spPr>
          <a:xfrm>
            <a:off x="4757174" y="2880360"/>
            <a:ext cx="174079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Square crop → 224 × 224</a:t>
            </a:r>
            <a:endParaRPr sz="1100"/>
          </a:p>
        </p:txBody>
      </p:sp>
      <p:sp>
        <p:nvSpPr>
          <p:cNvPr id="323" name="Google Shape;323;p31"/>
          <p:cNvSpPr txBox="1"/>
          <p:nvPr/>
        </p:nvSpPr>
        <p:spPr>
          <a:xfrm>
            <a:off x="6611122" y="2948940"/>
            <a:ext cx="144019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/>
          </a:p>
        </p:txBody>
      </p:sp>
      <p:sp>
        <p:nvSpPr>
          <p:cNvPr id="324" name="Google Shape;324;p31"/>
          <p:cNvSpPr/>
          <p:nvPr/>
        </p:nvSpPr>
        <p:spPr>
          <a:xfrm>
            <a:off x="6758569" y="2825496"/>
            <a:ext cx="1960247" cy="425196"/>
          </a:xfrm>
          <a:prstGeom prst="roundRect">
            <a:avLst>
              <a:gd fmla="val 17741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1"/>
          <p:cNvSpPr txBox="1"/>
          <p:nvPr/>
        </p:nvSpPr>
        <p:spPr>
          <a:xfrm>
            <a:off x="6868298" y="2880360"/>
            <a:ext cx="174079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Channel-wise ImageNet normalisation</a:t>
            </a:r>
            <a:endParaRPr sz="1100"/>
          </a:p>
        </p:txBody>
      </p:sp>
      <p:sp>
        <p:nvSpPr>
          <p:cNvPr id="326" name="Google Shape;326;p31"/>
          <p:cNvSpPr/>
          <p:nvPr/>
        </p:nvSpPr>
        <p:spPr>
          <a:xfrm>
            <a:off x="425198" y="3429000"/>
            <a:ext cx="4043939" cy="754380"/>
          </a:xfrm>
          <a:prstGeom prst="roundRect">
            <a:avLst>
              <a:gd fmla="val 10000" name="adj"/>
            </a:avLst>
          </a:prstGeom>
          <a:solidFill>
            <a:srgbClr val="FAF0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1"/>
          <p:cNvSpPr txBox="1"/>
          <p:nvPr/>
        </p:nvSpPr>
        <p:spPr>
          <a:xfrm>
            <a:off x="589790" y="3545586"/>
            <a:ext cx="3714753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C96442"/>
                </a:solidFill>
                <a:latin typeface="Calibri"/>
                <a:ea typeface="Calibri"/>
                <a:cs typeface="Calibri"/>
                <a:sym typeface="Calibri"/>
              </a:rPr>
              <a:t>STATED LIMITATION   </a:t>
            </a:r>
            <a:r>
              <a:rPr b="1" i="0" lang="en" sz="9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DFDC is the train_sample subset</a:t>
            </a:r>
            <a:endParaRPr sz="1100"/>
          </a:p>
        </p:txBody>
      </p:sp>
      <p:sp>
        <p:nvSpPr>
          <p:cNvPr id="328" name="Google Shape;328;p31"/>
          <p:cNvSpPr txBox="1"/>
          <p:nvPr/>
        </p:nvSpPr>
        <p:spPr>
          <a:xfrm>
            <a:off x="589790" y="3765042"/>
            <a:ext cx="3714753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Its 58-video test split is small enough that any DFDC-specific confidence interval is wide — and we report it as uninformative rather than quietly using it.</a:t>
            </a:r>
            <a:endParaRPr sz="1100"/>
          </a:p>
        </p:txBody>
      </p:sp>
      <p:sp>
        <p:nvSpPr>
          <p:cNvPr id="329" name="Google Shape;329;p31"/>
          <p:cNvSpPr/>
          <p:nvPr/>
        </p:nvSpPr>
        <p:spPr>
          <a:xfrm>
            <a:off x="4674877" y="3429000"/>
            <a:ext cx="4043939" cy="754380"/>
          </a:xfrm>
          <a:prstGeom prst="roundRect">
            <a:avLst>
              <a:gd fmla="val 10000" name="adj"/>
            </a:avLst>
          </a:prstGeom>
          <a:solidFill>
            <a:srgbClr val="FAF0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1"/>
          <p:cNvSpPr txBox="1"/>
          <p:nvPr/>
        </p:nvSpPr>
        <p:spPr>
          <a:xfrm>
            <a:off x="4839470" y="3545586"/>
            <a:ext cx="3714753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C96442"/>
                </a:solidFill>
                <a:latin typeface="Calibri"/>
                <a:ea typeface="Calibri"/>
                <a:cs typeface="Calibri"/>
                <a:sym typeface="Calibri"/>
              </a:rPr>
              <a:t>STATED LIMITATION   </a:t>
            </a:r>
            <a:r>
              <a:rPr b="1" i="0" lang="en" sz="9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Our FF++ copy holds one manipulation method</a:t>
            </a:r>
            <a:endParaRPr sz="1100"/>
          </a:p>
        </p:txBody>
      </p:sp>
      <p:sp>
        <p:nvSpPr>
          <p:cNvPr id="331" name="Google Shape;331;p31"/>
          <p:cNvSpPr txBox="1"/>
          <p:nvPr/>
        </p:nvSpPr>
        <p:spPr>
          <a:xfrm>
            <a:off x="4839470" y="3765042"/>
            <a:ext cx="3714753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Exactly 1 000 forged folders and no method name anywhere in the directory tree, so all FF++ figures here describe one manipulation, not the four-method benchmark.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2"/>
          <p:cNvSpPr txBox="1"/>
          <p:nvPr/>
        </p:nvSpPr>
        <p:spPr>
          <a:xfrm>
            <a:off x="425198" y="4855464"/>
            <a:ext cx="622021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Cross-Dataset Generalization and Robustness of Deepfake Detection</a:t>
            </a:r>
            <a:endParaRPr sz="1100"/>
          </a:p>
        </p:txBody>
      </p:sp>
      <p:sp>
        <p:nvSpPr>
          <p:cNvPr id="338" name="Google Shape;338;p32"/>
          <p:cNvSpPr txBox="1"/>
          <p:nvPr/>
        </p:nvSpPr>
        <p:spPr>
          <a:xfrm>
            <a:off x="7758693" y="4855464"/>
            <a:ext cx="9601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8 / 19</a:t>
            </a:r>
            <a:endParaRPr sz="1100"/>
          </a:p>
        </p:txBody>
      </p:sp>
      <p:sp>
        <p:nvSpPr>
          <p:cNvPr id="339" name="Google Shape;339;p32"/>
          <p:cNvSpPr txBox="1"/>
          <p:nvPr/>
        </p:nvSpPr>
        <p:spPr>
          <a:xfrm>
            <a:off x="425198" y="315468"/>
            <a:ext cx="829361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sz="1100"/>
          </a:p>
        </p:txBody>
      </p:sp>
      <p:sp>
        <p:nvSpPr>
          <p:cNvPr id="340" name="Google Shape;340;p32"/>
          <p:cNvSpPr txBox="1"/>
          <p:nvPr/>
        </p:nvSpPr>
        <p:spPr>
          <a:xfrm>
            <a:off x="425198" y="521208"/>
            <a:ext cx="8293619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Leakage-safe identity-grouped splitting</a:t>
            </a:r>
            <a:endParaRPr sz="1100"/>
          </a:p>
        </p:txBody>
      </p:sp>
      <p:sp>
        <p:nvSpPr>
          <p:cNvPr id="341" name="Google Shape;341;p32"/>
          <p:cNvSpPr txBox="1"/>
          <p:nvPr/>
        </p:nvSpPr>
        <p:spPr>
          <a:xfrm>
            <a:off x="425198" y="932688"/>
            <a:ext cx="829361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Frames from one video are near-duplicates. Split them per frame and near-identical images land on both sides of the boundary — inflating every score that follows.</a:t>
            </a:r>
            <a:endParaRPr sz="1100"/>
          </a:p>
        </p:txBody>
      </p:sp>
      <p:sp>
        <p:nvSpPr>
          <p:cNvPr id="342" name="Google Shape;342;p32"/>
          <p:cNvSpPr/>
          <p:nvPr/>
        </p:nvSpPr>
        <p:spPr>
          <a:xfrm>
            <a:off x="425198" y="1248155"/>
            <a:ext cx="4320558" cy="1659636"/>
          </a:xfrm>
          <a:prstGeom prst="roundRect">
            <a:avLst>
              <a:gd fmla="val 4545" name="adj"/>
            </a:avLst>
          </a:prstGeom>
          <a:solidFill>
            <a:srgbClr val="FAF0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2"/>
          <p:cNvSpPr txBox="1"/>
          <p:nvPr/>
        </p:nvSpPr>
        <p:spPr>
          <a:xfrm>
            <a:off x="603506" y="1371599"/>
            <a:ext cx="3963940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C96442"/>
                </a:solidFill>
                <a:latin typeface="Calibri"/>
                <a:ea typeface="Calibri"/>
                <a:cs typeface="Calibri"/>
                <a:sym typeface="Calibri"/>
              </a:rPr>
              <a:t>THE FACEFORENSICS++ TRAP</a:t>
            </a:r>
            <a:endParaRPr sz="1100"/>
          </a:p>
        </p:txBody>
      </p:sp>
      <p:sp>
        <p:nvSpPr>
          <p:cNvPr id="344" name="Google Shape;344;p32"/>
          <p:cNvSpPr txBox="1"/>
          <p:nvPr/>
        </p:nvSpPr>
        <p:spPr>
          <a:xfrm>
            <a:off x="603506" y="1591056"/>
            <a:ext cx="39639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A forged clip is synthesized from two named real clips, so its folder name encodes both source identities:</a:t>
            </a:r>
            <a:endParaRPr sz="1100"/>
          </a:p>
        </p:txBody>
      </p:sp>
      <p:sp>
        <p:nvSpPr>
          <p:cNvPr id="345" name="Google Shape;345;p32"/>
          <p:cNvSpPr/>
          <p:nvPr/>
        </p:nvSpPr>
        <p:spPr>
          <a:xfrm>
            <a:off x="603506" y="2016251"/>
            <a:ext cx="1275593" cy="233172"/>
          </a:xfrm>
          <a:prstGeom prst="roundRect">
            <a:avLst>
              <a:gd fmla="val 1764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2"/>
          <p:cNvSpPr txBox="1"/>
          <p:nvPr/>
        </p:nvSpPr>
        <p:spPr>
          <a:xfrm>
            <a:off x="658371" y="2064258"/>
            <a:ext cx="1165865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C96442"/>
                </a:solidFill>
                <a:latin typeface="Consolas"/>
                <a:ea typeface="Consolas"/>
                <a:cs typeface="Consolas"/>
                <a:sym typeface="Consolas"/>
              </a:rPr>
              <a:t>588_556_crops</a:t>
            </a:r>
            <a:endParaRPr sz="1100"/>
          </a:p>
        </p:txBody>
      </p:sp>
      <p:sp>
        <p:nvSpPr>
          <p:cNvPr id="347" name="Google Shape;347;p32"/>
          <p:cNvSpPr txBox="1"/>
          <p:nvPr/>
        </p:nvSpPr>
        <p:spPr>
          <a:xfrm>
            <a:off x="658371" y="2276856"/>
            <a:ext cx="1165865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forged — train</a:t>
            </a:r>
            <a:endParaRPr sz="1100"/>
          </a:p>
        </p:txBody>
      </p:sp>
      <p:sp>
        <p:nvSpPr>
          <p:cNvPr id="348" name="Google Shape;348;p32"/>
          <p:cNvSpPr/>
          <p:nvPr/>
        </p:nvSpPr>
        <p:spPr>
          <a:xfrm>
            <a:off x="1975112" y="2016251"/>
            <a:ext cx="1275593" cy="233172"/>
          </a:xfrm>
          <a:prstGeom prst="roundRect">
            <a:avLst>
              <a:gd fmla="val 1764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2"/>
          <p:cNvSpPr txBox="1"/>
          <p:nvPr/>
        </p:nvSpPr>
        <p:spPr>
          <a:xfrm>
            <a:off x="2029976" y="2064258"/>
            <a:ext cx="1165865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onsolas"/>
                <a:ea typeface="Consolas"/>
                <a:cs typeface="Consolas"/>
                <a:sym typeface="Consolas"/>
              </a:rPr>
              <a:t>588_crops</a:t>
            </a:r>
            <a:endParaRPr sz="1100"/>
          </a:p>
        </p:txBody>
      </p:sp>
      <p:sp>
        <p:nvSpPr>
          <p:cNvPr id="350" name="Google Shape;350;p32"/>
          <p:cNvSpPr txBox="1"/>
          <p:nvPr/>
        </p:nvSpPr>
        <p:spPr>
          <a:xfrm>
            <a:off x="2029976" y="2276856"/>
            <a:ext cx="1165865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real — test</a:t>
            </a:r>
            <a:endParaRPr sz="1100"/>
          </a:p>
        </p:txBody>
      </p:sp>
      <p:sp>
        <p:nvSpPr>
          <p:cNvPr id="351" name="Google Shape;351;p32"/>
          <p:cNvSpPr/>
          <p:nvPr/>
        </p:nvSpPr>
        <p:spPr>
          <a:xfrm>
            <a:off x="3346718" y="2016251"/>
            <a:ext cx="1275593" cy="233172"/>
          </a:xfrm>
          <a:prstGeom prst="roundRect">
            <a:avLst>
              <a:gd fmla="val 1764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2"/>
          <p:cNvSpPr txBox="1"/>
          <p:nvPr/>
        </p:nvSpPr>
        <p:spPr>
          <a:xfrm>
            <a:off x="3401582" y="2064258"/>
            <a:ext cx="1165865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onsolas"/>
                <a:ea typeface="Consolas"/>
                <a:cs typeface="Consolas"/>
                <a:sym typeface="Consolas"/>
              </a:rPr>
              <a:t>556_crops</a:t>
            </a:r>
            <a:endParaRPr sz="1100"/>
          </a:p>
        </p:txBody>
      </p:sp>
      <p:sp>
        <p:nvSpPr>
          <p:cNvPr id="353" name="Google Shape;353;p32"/>
          <p:cNvSpPr txBox="1"/>
          <p:nvPr/>
        </p:nvSpPr>
        <p:spPr>
          <a:xfrm>
            <a:off x="3401582" y="2276856"/>
            <a:ext cx="1165865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real — test</a:t>
            </a:r>
            <a:endParaRPr sz="1100"/>
          </a:p>
        </p:txBody>
      </p:sp>
      <p:sp>
        <p:nvSpPr>
          <p:cNvPr id="354" name="Google Shape;354;p32"/>
          <p:cNvSpPr txBox="1"/>
          <p:nvPr/>
        </p:nvSpPr>
        <p:spPr>
          <a:xfrm>
            <a:off x="603506" y="2496311"/>
            <a:ext cx="39639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Split on video and the network learns to recognise the individual </a:t>
            </a:r>
            <a:r>
              <a:rPr b="1" i="0" lang="en" sz="900" u="none" cap="none" strike="noStrike">
                <a:solidFill>
                  <a:srgbClr val="C96442"/>
                </a:solidFill>
                <a:latin typeface="Consolas"/>
                <a:ea typeface="Consolas"/>
                <a:cs typeface="Consolas"/>
                <a:sym typeface="Consolas"/>
              </a:rPr>
              <a:t>588</a:t>
            </a:r>
            <a:r>
              <a:rPr b="0" i="0" lang="en" sz="9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 rather than the manipulation.</a:t>
            </a:r>
            <a:endParaRPr sz="1100"/>
          </a:p>
        </p:txBody>
      </p:sp>
      <p:sp>
        <p:nvSpPr>
          <p:cNvPr id="355" name="Google Shape;355;p32"/>
          <p:cNvSpPr/>
          <p:nvPr/>
        </p:nvSpPr>
        <p:spPr>
          <a:xfrm>
            <a:off x="4951496" y="1248155"/>
            <a:ext cx="3767320" cy="1659636"/>
          </a:xfrm>
          <a:prstGeom prst="roundRect">
            <a:avLst>
              <a:gd fmla="val 4545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5129805" y="1371599"/>
            <a:ext cx="3410703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THE FIX — UNION–FIND OVER SHARED IDENTITY TOKENS</a:t>
            </a:r>
            <a:endParaRPr sz="1100"/>
          </a:p>
        </p:txBody>
      </p:sp>
      <p:sp>
        <p:nvSpPr>
          <p:cNvPr id="357" name="Google Shape;357;p32"/>
          <p:cNvSpPr txBox="1"/>
          <p:nvPr/>
        </p:nvSpPr>
        <p:spPr>
          <a:xfrm>
            <a:off x="5129805" y="1604772"/>
            <a:ext cx="3410703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u ~ v  ⟺  N(u) ∩ N(v) ≠ ∅</a:t>
            </a:r>
            <a:endParaRPr sz="1100"/>
          </a:p>
        </p:txBody>
      </p:sp>
      <p:sp>
        <p:nvSpPr>
          <p:cNvPr id="358" name="Google Shape;358;p32"/>
          <p:cNvSpPr txBox="1"/>
          <p:nvPr/>
        </p:nvSpPr>
        <p:spPr>
          <a:xfrm>
            <a:off x="5129805" y="1892808"/>
            <a:ext cx="3410703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Two videos join the same group if they share any numeric identity token. We take the transitive closure of that relation, then split on the resulting groups.</a:t>
            </a:r>
            <a:endParaRPr sz="1100"/>
          </a:p>
        </p:txBody>
      </p:sp>
      <p:sp>
        <p:nvSpPr>
          <p:cNvPr id="359" name="Google Shape;359;p32"/>
          <p:cNvSpPr txBox="1"/>
          <p:nvPr/>
        </p:nvSpPr>
        <p:spPr>
          <a:xfrm>
            <a:off x="5129805" y="2263140"/>
            <a:ext cx="3410703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2E6F9E"/>
                </a:solidFill>
                <a:latin typeface="Cambria"/>
                <a:ea typeface="Cambria"/>
                <a:cs typeface="Cambria"/>
                <a:sym typeface="Cambria"/>
              </a:rPr>
              <a:t>𝒢(Dᵢ) ∩ 𝒢(Dⱼ) = 𝒱(Dᵢ) ∩ 𝒱(Dⱼ) = ∅,   i ≠ j</a:t>
            </a:r>
            <a:endParaRPr sz="1100"/>
          </a:p>
        </p:txBody>
      </p:sp>
      <p:sp>
        <p:nvSpPr>
          <p:cNvPr id="360" name="Google Shape;360;p32"/>
          <p:cNvSpPr txBox="1"/>
          <p:nvPr/>
        </p:nvSpPr>
        <p:spPr>
          <a:xfrm>
            <a:off x="5129805" y="2551176"/>
            <a:ext cx="341070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asserted on every experiment — the build fails if it is violated</a:t>
            </a:r>
            <a:endParaRPr sz="1100"/>
          </a:p>
        </p:txBody>
      </p:sp>
      <p:sp>
        <p:nvSpPr>
          <p:cNvPr id="361" name="Google Shape;361;p32"/>
          <p:cNvSpPr/>
          <p:nvPr/>
        </p:nvSpPr>
        <p:spPr>
          <a:xfrm>
            <a:off x="425198" y="3044951"/>
            <a:ext cx="1939673" cy="850392"/>
          </a:xfrm>
          <a:prstGeom prst="roundRect">
            <a:avLst>
              <a:gd fmla="val 8064" name="adj"/>
            </a:avLst>
          </a:prstGeom>
          <a:solidFill>
            <a:srgbClr val="F6FA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2"/>
          <p:cNvSpPr txBox="1"/>
          <p:nvPr/>
        </p:nvSpPr>
        <p:spPr>
          <a:xfrm>
            <a:off x="493778" y="3134105"/>
            <a:ext cx="1802512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6E8290"/>
                </a:solidFill>
                <a:latin typeface="Cambria"/>
                <a:ea typeface="Cambria"/>
                <a:cs typeface="Cambria"/>
                <a:sym typeface="Cambria"/>
              </a:rPr>
              <a:t>2 000</a:t>
            </a:r>
            <a:endParaRPr sz="1100"/>
          </a:p>
        </p:txBody>
      </p:sp>
      <p:sp>
        <p:nvSpPr>
          <p:cNvPr id="363" name="Google Shape;363;p32"/>
          <p:cNvSpPr txBox="1"/>
          <p:nvPr/>
        </p:nvSpPr>
        <p:spPr>
          <a:xfrm>
            <a:off x="493778" y="3410521"/>
            <a:ext cx="1802512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FaceForensics++ videos</a:t>
            </a:r>
            <a:endParaRPr sz="1100"/>
          </a:p>
        </p:txBody>
      </p:sp>
      <p:sp>
        <p:nvSpPr>
          <p:cNvPr id="364" name="Google Shape;364;p32"/>
          <p:cNvSpPr/>
          <p:nvPr/>
        </p:nvSpPr>
        <p:spPr>
          <a:xfrm>
            <a:off x="2543179" y="3044951"/>
            <a:ext cx="1939673" cy="850392"/>
          </a:xfrm>
          <a:prstGeom prst="roundRect">
            <a:avLst>
              <a:gd fmla="val 8064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2"/>
          <p:cNvSpPr txBox="1"/>
          <p:nvPr/>
        </p:nvSpPr>
        <p:spPr>
          <a:xfrm>
            <a:off x="2611760" y="3134105"/>
            <a:ext cx="1802512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2E6F9E"/>
                </a:solidFill>
                <a:latin typeface="Cambria"/>
                <a:ea typeface="Cambria"/>
                <a:cs typeface="Cambria"/>
                <a:sym typeface="Cambria"/>
              </a:rPr>
              <a:t>500</a:t>
            </a:r>
            <a:endParaRPr sz="1100"/>
          </a:p>
        </p:txBody>
      </p:sp>
      <p:sp>
        <p:nvSpPr>
          <p:cNvPr id="366" name="Google Shape;366;p32"/>
          <p:cNvSpPr txBox="1"/>
          <p:nvPr/>
        </p:nvSpPr>
        <p:spPr>
          <a:xfrm>
            <a:off x="2611760" y="3410521"/>
            <a:ext cx="1802512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identity groups after union–find</a:t>
            </a:r>
            <a:endParaRPr sz="1100"/>
          </a:p>
        </p:txBody>
      </p:sp>
      <p:sp>
        <p:nvSpPr>
          <p:cNvPr id="367" name="Google Shape;367;p32"/>
          <p:cNvSpPr/>
          <p:nvPr/>
        </p:nvSpPr>
        <p:spPr>
          <a:xfrm>
            <a:off x="4661161" y="3044951"/>
            <a:ext cx="1939673" cy="850392"/>
          </a:xfrm>
          <a:prstGeom prst="roundRect">
            <a:avLst>
              <a:gd fmla="val 8064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2"/>
          <p:cNvSpPr txBox="1"/>
          <p:nvPr/>
        </p:nvSpPr>
        <p:spPr>
          <a:xfrm>
            <a:off x="4729741" y="3134105"/>
            <a:ext cx="1802512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2E6F9E"/>
                </a:solidFill>
                <a:latin typeface="Cambria"/>
                <a:ea typeface="Cambria"/>
                <a:cs typeface="Cambria"/>
                <a:sym typeface="Cambria"/>
              </a:rPr>
              <a:t>70 / 15 / 15</a:t>
            </a:r>
            <a:endParaRPr sz="1100"/>
          </a:p>
        </p:txBody>
      </p:sp>
      <p:sp>
        <p:nvSpPr>
          <p:cNvPr id="369" name="Google Shape;369;p32"/>
          <p:cNvSpPr txBox="1"/>
          <p:nvPr/>
        </p:nvSpPr>
        <p:spPr>
          <a:xfrm>
            <a:off x="4729741" y="3410521"/>
            <a:ext cx="1802512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train / val / test, on groups</a:t>
            </a:r>
            <a:endParaRPr sz="1100"/>
          </a:p>
        </p:txBody>
      </p:sp>
      <p:sp>
        <p:nvSpPr>
          <p:cNvPr id="370" name="Google Shape;370;p32"/>
          <p:cNvSpPr/>
          <p:nvPr/>
        </p:nvSpPr>
        <p:spPr>
          <a:xfrm>
            <a:off x="6779144" y="3044951"/>
            <a:ext cx="1939673" cy="850392"/>
          </a:xfrm>
          <a:prstGeom prst="roundRect">
            <a:avLst>
              <a:gd fmla="val 8064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2"/>
          <p:cNvSpPr txBox="1"/>
          <p:nvPr/>
        </p:nvSpPr>
        <p:spPr>
          <a:xfrm>
            <a:off x="6847724" y="3134105"/>
            <a:ext cx="1802512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2E6F9E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sz="1100"/>
          </a:p>
        </p:txBody>
      </p:sp>
      <p:sp>
        <p:nvSpPr>
          <p:cNvPr id="372" name="Google Shape;372;p32"/>
          <p:cNvSpPr txBox="1"/>
          <p:nvPr/>
        </p:nvSpPr>
        <p:spPr>
          <a:xfrm>
            <a:off x="6847724" y="3410521"/>
            <a:ext cx="1802512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identity overlap, asserted</a:t>
            </a:r>
            <a:endParaRPr sz="1100"/>
          </a:p>
        </p:txBody>
      </p:sp>
      <p:sp>
        <p:nvSpPr>
          <p:cNvPr id="373" name="Google Shape;373;p32"/>
          <p:cNvSpPr txBox="1"/>
          <p:nvPr/>
        </p:nvSpPr>
        <p:spPr>
          <a:xfrm>
            <a:off x="425198" y="4032503"/>
            <a:ext cx="829361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This work located a frame-level leak in an earlier measurement of ours and changed a headline number. </a:t>
            </a:r>
            <a:r>
              <a:rPr b="1" i="0" lang="en" sz="9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It is the reason the figures in this talk are trustworthy.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3"/>
          <p:cNvSpPr txBox="1"/>
          <p:nvPr/>
        </p:nvSpPr>
        <p:spPr>
          <a:xfrm>
            <a:off x="425198" y="4855464"/>
            <a:ext cx="6220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Cross-Dataset Generalization and Robustness of Deepfake Detection</a:t>
            </a:r>
            <a:endParaRPr sz="1100"/>
          </a:p>
        </p:txBody>
      </p:sp>
      <p:sp>
        <p:nvSpPr>
          <p:cNvPr id="380" name="Google Shape;380;p33"/>
          <p:cNvSpPr txBox="1"/>
          <p:nvPr/>
        </p:nvSpPr>
        <p:spPr>
          <a:xfrm>
            <a:off x="7758693" y="4855464"/>
            <a:ext cx="960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9 / 19</a:t>
            </a:r>
            <a:endParaRPr sz="1100"/>
          </a:p>
        </p:txBody>
      </p:sp>
      <p:sp>
        <p:nvSpPr>
          <p:cNvPr id="381" name="Google Shape;381;p33"/>
          <p:cNvSpPr txBox="1"/>
          <p:nvPr/>
        </p:nvSpPr>
        <p:spPr>
          <a:xfrm>
            <a:off x="425198" y="315468"/>
            <a:ext cx="8293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sz="1100"/>
          </a:p>
        </p:txBody>
      </p:sp>
      <p:sp>
        <p:nvSpPr>
          <p:cNvPr id="382" name="Google Shape;382;p33"/>
          <p:cNvSpPr txBox="1"/>
          <p:nvPr/>
        </p:nvSpPr>
        <p:spPr>
          <a:xfrm>
            <a:off x="425198" y="521208"/>
            <a:ext cx="82935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Network and training configuration</a:t>
            </a:r>
            <a:endParaRPr sz="1100"/>
          </a:p>
        </p:txBody>
      </p:sp>
      <p:sp>
        <p:nvSpPr>
          <p:cNvPr id="383" name="Google Shape;383;p33"/>
          <p:cNvSpPr txBox="1"/>
          <p:nvPr/>
        </p:nvSpPr>
        <p:spPr>
          <a:xfrm>
            <a:off x="425198" y="932688"/>
            <a:ext cx="829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EfficientNet-B0 — roughly a quarter of the XceptionNet that dominates this literature — held fixed across all six models.</a:t>
            </a:r>
            <a:endParaRPr sz="1100"/>
          </a:p>
        </p:txBody>
      </p:sp>
      <p:sp>
        <p:nvSpPr>
          <p:cNvPr id="384" name="Google Shape;384;p33"/>
          <p:cNvSpPr/>
          <p:nvPr/>
        </p:nvSpPr>
        <p:spPr>
          <a:xfrm>
            <a:off x="425198" y="1248155"/>
            <a:ext cx="3566100" cy="2935200"/>
          </a:xfrm>
          <a:prstGeom prst="roundRect">
            <a:avLst>
              <a:gd fmla="val 2570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3"/>
          <p:cNvSpPr txBox="1"/>
          <p:nvPr/>
        </p:nvSpPr>
        <p:spPr>
          <a:xfrm>
            <a:off x="603506" y="1371599"/>
            <a:ext cx="3209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BACKBONE</a:t>
            </a:r>
            <a:endParaRPr sz="1100"/>
          </a:p>
        </p:txBody>
      </p:sp>
      <p:sp>
        <p:nvSpPr>
          <p:cNvPr id="386" name="Google Shape;386;p33"/>
          <p:cNvSpPr txBox="1"/>
          <p:nvPr/>
        </p:nvSpPr>
        <p:spPr>
          <a:xfrm>
            <a:off x="603506" y="1577340"/>
            <a:ext cx="3209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EfficientNet-B0</a:t>
            </a:r>
            <a:endParaRPr sz="1100"/>
          </a:p>
        </p:txBody>
      </p:sp>
      <p:sp>
        <p:nvSpPr>
          <p:cNvPr id="387" name="Google Shape;387;p33"/>
          <p:cNvSpPr txBox="1"/>
          <p:nvPr/>
        </p:nvSpPr>
        <p:spPr>
          <a:xfrm>
            <a:off x="603506" y="1906524"/>
            <a:ext cx="1069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E6F9E"/>
                </a:solidFill>
                <a:latin typeface="Cambria"/>
                <a:ea typeface="Cambria"/>
                <a:cs typeface="Cambria"/>
                <a:sym typeface="Cambria"/>
              </a:rPr>
              <a:t>5.3 M</a:t>
            </a:r>
            <a:endParaRPr sz="1100"/>
          </a:p>
        </p:txBody>
      </p:sp>
      <p:sp>
        <p:nvSpPr>
          <p:cNvPr id="388" name="Google Shape;388;p33"/>
          <p:cNvSpPr txBox="1"/>
          <p:nvPr/>
        </p:nvSpPr>
        <p:spPr>
          <a:xfrm>
            <a:off x="603506" y="2112264"/>
            <a:ext cx="1069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sz="1100"/>
          </a:p>
        </p:txBody>
      </p:sp>
      <p:sp>
        <p:nvSpPr>
          <p:cNvPr id="389" name="Google Shape;389;p33"/>
          <p:cNvSpPr txBox="1"/>
          <p:nvPr/>
        </p:nvSpPr>
        <p:spPr>
          <a:xfrm>
            <a:off x="1673359" y="1906524"/>
            <a:ext cx="1069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E6F9E"/>
                </a:solidFill>
                <a:latin typeface="Cambria"/>
                <a:ea typeface="Cambria"/>
                <a:cs typeface="Cambria"/>
                <a:sym typeface="Cambria"/>
              </a:rPr>
              <a:t>15.95 MB</a:t>
            </a:r>
            <a:endParaRPr sz="1100"/>
          </a:p>
        </p:txBody>
      </p:sp>
      <p:sp>
        <p:nvSpPr>
          <p:cNvPr id="390" name="Google Shape;390;p33"/>
          <p:cNvSpPr txBox="1"/>
          <p:nvPr/>
        </p:nvSpPr>
        <p:spPr>
          <a:xfrm>
            <a:off x="1673359" y="2112264"/>
            <a:ext cx="1069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checkpoint</a:t>
            </a:r>
            <a:endParaRPr sz="1100"/>
          </a:p>
        </p:txBody>
      </p:sp>
      <p:sp>
        <p:nvSpPr>
          <p:cNvPr id="391" name="Google Shape;391;p33"/>
          <p:cNvSpPr txBox="1"/>
          <p:nvPr/>
        </p:nvSpPr>
        <p:spPr>
          <a:xfrm>
            <a:off x="2743210" y="1906524"/>
            <a:ext cx="1069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E6F9E"/>
                </a:solidFill>
                <a:latin typeface="Cambria"/>
                <a:ea typeface="Cambria"/>
                <a:cs typeface="Cambria"/>
                <a:sym typeface="Cambria"/>
              </a:rPr>
              <a:t>1 × T4</a:t>
            </a:r>
            <a:endParaRPr sz="1100"/>
          </a:p>
        </p:txBody>
      </p:sp>
      <p:sp>
        <p:nvSpPr>
          <p:cNvPr id="392" name="Google Shape;392;p33"/>
          <p:cNvSpPr txBox="1"/>
          <p:nvPr/>
        </p:nvSpPr>
        <p:spPr>
          <a:xfrm>
            <a:off x="2743210" y="2112264"/>
            <a:ext cx="1069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Kaggle GPU</a:t>
            </a:r>
            <a:endParaRPr sz="1100"/>
          </a:p>
        </p:txBody>
      </p:sp>
      <p:sp>
        <p:nvSpPr>
          <p:cNvPr id="393" name="Google Shape;393;p33"/>
          <p:cNvSpPr txBox="1"/>
          <p:nvPr/>
        </p:nvSpPr>
        <p:spPr>
          <a:xfrm>
            <a:off x="603506" y="2414015"/>
            <a:ext cx="3209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SQUEEZE-AND-EXCITATION GATE</a:t>
            </a:r>
            <a:endParaRPr sz="1100"/>
          </a:p>
        </p:txBody>
      </p:sp>
      <p:sp>
        <p:nvSpPr>
          <p:cNvPr id="394" name="Google Shape;394;p33"/>
          <p:cNvSpPr txBox="1"/>
          <p:nvPr/>
        </p:nvSpPr>
        <p:spPr>
          <a:xfrm>
            <a:off x="603506" y="2633472"/>
            <a:ext cx="3209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z_c = (1/HW) Σ U_i,j,c ,   s = σ(W₂ swish(W₁z))</a:t>
            </a:r>
            <a:endParaRPr sz="1100"/>
          </a:p>
        </p:txBody>
      </p:sp>
      <p:sp>
        <p:nvSpPr>
          <p:cNvPr id="395" name="Google Shape;395;p33"/>
          <p:cNvSpPr txBox="1"/>
          <p:nvPr/>
        </p:nvSpPr>
        <p:spPr>
          <a:xfrm>
            <a:off x="603507" y="2838450"/>
            <a:ext cx="32097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Every block recalibrates channels using global context. That gate matters here because it makes the network's reliance on globally distributed texture explicit — which is exactly what our explainability study probes.</a:t>
            </a:r>
            <a:endParaRPr sz="850">
              <a:solidFill>
                <a:srgbClr val="6E82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3"/>
          <p:cNvSpPr txBox="1"/>
          <p:nvPr/>
        </p:nvSpPr>
        <p:spPr>
          <a:xfrm>
            <a:off x="603507" y="3314700"/>
            <a:ext cx="3209700" cy="17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TRAINING OBJECTIVE</a:t>
            </a:r>
            <a:endParaRPr b="1" sz="800">
              <a:solidFill>
                <a:srgbClr val="2E6F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3"/>
          <p:cNvSpPr txBox="1"/>
          <p:nvPr/>
        </p:nvSpPr>
        <p:spPr>
          <a:xfrm>
            <a:off x="603507" y="3524250"/>
            <a:ext cx="3209700" cy="23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ℒ = −(1/N) Σ w_yᵢ [ yᵢ log σ(zᵢ) + (1−yᵢ) log(1−σ(zᵢ)) ]</a:t>
            </a:r>
            <a:endParaRPr b="1" sz="900">
              <a:solidFill>
                <a:srgbClr val="1C2B3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98" name="Google Shape;398;p33"/>
          <p:cNvSpPr txBox="1"/>
          <p:nvPr/>
        </p:nvSpPr>
        <p:spPr>
          <a:xfrm>
            <a:off x="603507" y="3829050"/>
            <a:ext cx="3209700" cy="17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single logit head, class-weighted binary cross-entropy</a:t>
            </a:r>
            <a:endParaRPr i="1" sz="800">
              <a:solidFill>
                <a:srgbClr val="6E82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3"/>
          <p:cNvSpPr/>
          <p:nvPr/>
        </p:nvSpPr>
        <p:spPr>
          <a:xfrm>
            <a:off x="4183397" y="1248155"/>
            <a:ext cx="2263200" cy="2935200"/>
          </a:xfrm>
          <a:prstGeom prst="roundRect">
            <a:avLst>
              <a:gd fmla="val 3333" name="adj"/>
            </a:avLst>
          </a:prstGeom>
          <a:solidFill>
            <a:srgbClr val="F6FA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3"/>
          <p:cNvSpPr txBox="1"/>
          <p:nvPr/>
        </p:nvSpPr>
        <p:spPr>
          <a:xfrm>
            <a:off x="4347990" y="1371599"/>
            <a:ext cx="19341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IDENTICAL FOR EVERY MODEL</a:t>
            </a:r>
            <a:endParaRPr sz="1100"/>
          </a:p>
        </p:txBody>
      </p:sp>
      <p:sp>
        <p:nvSpPr>
          <p:cNvPr id="401" name="Google Shape;401;p33"/>
          <p:cNvSpPr txBox="1"/>
          <p:nvPr/>
        </p:nvSpPr>
        <p:spPr>
          <a:xfrm>
            <a:off x="4347990" y="1591056"/>
            <a:ext cx="1160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Optimiser</a:t>
            </a:r>
            <a:endParaRPr sz="1100"/>
          </a:p>
        </p:txBody>
      </p:sp>
      <p:sp>
        <p:nvSpPr>
          <p:cNvPr id="402" name="Google Shape;402;p33"/>
          <p:cNvSpPr txBox="1"/>
          <p:nvPr/>
        </p:nvSpPr>
        <p:spPr>
          <a:xfrm>
            <a:off x="5508368" y="1591056"/>
            <a:ext cx="773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AdamW</a:t>
            </a:r>
            <a:endParaRPr sz="1100"/>
          </a:p>
        </p:txBody>
      </p:sp>
      <p:sp>
        <p:nvSpPr>
          <p:cNvPr id="403" name="Google Shape;403;p33"/>
          <p:cNvSpPr txBox="1"/>
          <p:nvPr/>
        </p:nvSpPr>
        <p:spPr>
          <a:xfrm>
            <a:off x="4347990" y="1820799"/>
            <a:ext cx="1160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LR / weight decay</a:t>
            </a:r>
            <a:endParaRPr sz="1100"/>
          </a:p>
        </p:txBody>
      </p:sp>
      <p:sp>
        <p:nvSpPr>
          <p:cNvPr id="404" name="Google Shape;404;p33"/>
          <p:cNvSpPr txBox="1"/>
          <p:nvPr/>
        </p:nvSpPr>
        <p:spPr>
          <a:xfrm>
            <a:off x="5508368" y="1820799"/>
            <a:ext cx="773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1 × 10⁻⁴</a:t>
            </a:r>
            <a:endParaRPr sz="1100"/>
          </a:p>
        </p:txBody>
      </p:sp>
      <p:sp>
        <p:nvSpPr>
          <p:cNvPr id="405" name="Google Shape;405;p33"/>
          <p:cNvSpPr txBox="1"/>
          <p:nvPr/>
        </p:nvSpPr>
        <p:spPr>
          <a:xfrm>
            <a:off x="4347990" y="2050542"/>
            <a:ext cx="1160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Schedule</a:t>
            </a:r>
            <a:endParaRPr sz="1100"/>
          </a:p>
        </p:txBody>
      </p:sp>
      <p:sp>
        <p:nvSpPr>
          <p:cNvPr id="406" name="Google Shape;406;p33"/>
          <p:cNvSpPr txBox="1"/>
          <p:nvPr/>
        </p:nvSpPr>
        <p:spPr>
          <a:xfrm>
            <a:off x="5508368" y="2050542"/>
            <a:ext cx="773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1 warm-up epoch + cosine</a:t>
            </a:r>
            <a:endParaRPr sz="1100"/>
          </a:p>
        </p:txBody>
      </p:sp>
      <p:sp>
        <p:nvSpPr>
          <p:cNvPr id="407" name="Google Shape;407;p33"/>
          <p:cNvSpPr txBox="1"/>
          <p:nvPr/>
        </p:nvSpPr>
        <p:spPr>
          <a:xfrm>
            <a:off x="4347990" y="2280284"/>
            <a:ext cx="1160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Batch / resolution</a:t>
            </a:r>
            <a:endParaRPr sz="1100"/>
          </a:p>
        </p:txBody>
      </p:sp>
      <p:sp>
        <p:nvSpPr>
          <p:cNvPr id="408" name="Google Shape;408;p33"/>
          <p:cNvSpPr txBox="1"/>
          <p:nvPr/>
        </p:nvSpPr>
        <p:spPr>
          <a:xfrm>
            <a:off x="5508368" y="2280284"/>
            <a:ext cx="773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64 @ 224²</a:t>
            </a:r>
            <a:endParaRPr sz="1100"/>
          </a:p>
        </p:txBody>
      </p:sp>
      <p:sp>
        <p:nvSpPr>
          <p:cNvPr id="409" name="Google Shape;409;p33"/>
          <p:cNvSpPr txBox="1"/>
          <p:nvPr/>
        </p:nvSpPr>
        <p:spPr>
          <a:xfrm>
            <a:off x="4347990" y="2510027"/>
            <a:ext cx="1160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sz="1100"/>
          </a:p>
        </p:txBody>
      </p:sp>
      <p:sp>
        <p:nvSpPr>
          <p:cNvPr id="410" name="Google Shape;410;p33"/>
          <p:cNvSpPr txBox="1"/>
          <p:nvPr/>
        </p:nvSpPr>
        <p:spPr>
          <a:xfrm>
            <a:off x="5508368" y="2510027"/>
            <a:ext cx="773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mixed (AMP)</a:t>
            </a:r>
            <a:endParaRPr sz="1100"/>
          </a:p>
        </p:txBody>
      </p:sp>
      <p:sp>
        <p:nvSpPr>
          <p:cNvPr id="411" name="Google Shape;411;p33"/>
          <p:cNvSpPr txBox="1"/>
          <p:nvPr/>
        </p:nvSpPr>
        <p:spPr>
          <a:xfrm>
            <a:off x="4347990" y="2739770"/>
            <a:ext cx="1160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Grad clipping</a:t>
            </a:r>
            <a:endParaRPr sz="1100"/>
          </a:p>
        </p:txBody>
      </p:sp>
      <p:sp>
        <p:nvSpPr>
          <p:cNvPr id="412" name="Google Shape;412;p33"/>
          <p:cNvSpPr txBox="1"/>
          <p:nvPr/>
        </p:nvSpPr>
        <p:spPr>
          <a:xfrm>
            <a:off x="5508368" y="2739770"/>
            <a:ext cx="773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unit-norm</a:t>
            </a:r>
            <a:endParaRPr sz="1100"/>
          </a:p>
        </p:txBody>
      </p:sp>
      <p:sp>
        <p:nvSpPr>
          <p:cNvPr id="413" name="Google Shape;413;p33"/>
          <p:cNvSpPr txBox="1"/>
          <p:nvPr/>
        </p:nvSpPr>
        <p:spPr>
          <a:xfrm>
            <a:off x="4347990" y="2969514"/>
            <a:ext cx="1160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EMA decay</a:t>
            </a:r>
            <a:endParaRPr sz="1100"/>
          </a:p>
        </p:txBody>
      </p:sp>
      <p:sp>
        <p:nvSpPr>
          <p:cNvPr id="414" name="Google Shape;414;p33"/>
          <p:cNvSpPr txBox="1"/>
          <p:nvPr/>
        </p:nvSpPr>
        <p:spPr>
          <a:xfrm>
            <a:off x="5508368" y="2969514"/>
            <a:ext cx="773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0.999</a:t>
            </a:r>
            <a:endParaRPr sz="1100"/>
          </a:p>
        </p:txBody>
      </p:sp>
      <p:sp>
        <p:nvSpPr>
          <p:cNvPr id="415" name="Google Shape;415;p33"/>
          <p:cNvSpPr txBox="1"/>
          <p:nvPr/>
        </p:nvSpPr>
        <p:spPr>
          <a:xfrm>
            <a:off x="4347990" y="3199257"/>
            <a:ext cx="1160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Sampler</a:t>
            </a:r>
            <a:endParaRPr sz="1100"/>
          </a:p>
        </p:txBody>
      </p:sp>
      <p:sp>
        <p:nvSpPr>
          <p:cNvPr id="416" name="Google Shape;416;p33"/>
          <p:cNvSpPr txBox="1"/>
          <p:nvPr/>
        </p:nvSpPr>
        <p:spPr>
          <a:xfrm>
            <a:off x="5508368" y="3199257"/>
            <a:ext cx="773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weighted</a:t>
            </a:r>
            <a:endParaRPr sz="1100"/>
          </a:p>
        </p:txBody>
      </p:sp>
      <p:sp>
        <p:nvSpPr>
          <p:cNvPr id="417" name="Google Shape;417;p33"/>
          <p:cNvSpPr txBox="1"/>
          <p:nvPr/>
        </p:nvSpPr>
        <p:spPr>
          <a:xfrm>
            <a:off x="4347990" y="3429000"/>
            <a:ext cx="1160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Split (on groups)</a:t>
            </a:r>
            <a:endParaRPr sz="1100"/>
          </a:p>
        </p:txBody>
      </p:sp>
      <p:sp>
        <p:nvSpPr>
          <p:cNvPr id="418" name="Google Shape;418;p33"/>
          <p:cNvSpPr txBox="1"/>
          <p:nvPr/>
        </p:nvSpPr>
        <p:spPr>
          <a:xfrm>
            <a:off x="5508368" y="3429000"/>
            <a:ext cx="773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70 / 15 / 15</a:t>
            </a:r>
            <a:endParaRPr sz="1100"/>
          </a:p>
        </p:txBody>
      </p:sp>
      <p:sp>
        <p:nvSpPr>
          <p:cNvPr id="419" name="Google Shape;419;p33"/>
          <p:cNvSpPr txBox="1"/>
          <p:nvPr/>
        </p:nvSpPr>
        <p:spPr>
          <a:xfrm>
            <a:off x="4347990" y="3658743"/>
            <a:ext cx="1160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Max epochs / patience</a:t>
            </a:r>
            <a:endParaRPr sz="1100"/>
          </a:p>
        </p:txBody>
      </p:sp>
      <p:sp>
        <p:nvSpPr>
          <p:cNvPr id="420" name="Google Shape;420;p33"/>
          <p:cNvSpPr txBox="1"/>
          <p:nvPr/>
        </p:nvSpPr>
        <p:spPr>
          <a:xfrm>
            <a:off x="5508368" y="3658743"/>
            <a:ext cx="773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12 / 4</a:t>
            </a:r>
            <a:endParaRPr sz="1100"/>
          </a:p>
        </p:txBody>
      </p:sp>
      <p:sp>
        <p:nvSpPr>
          <p:cNvPr id="421" name="Google Shape;421;p33"/>
          <p:cNvSpPr txBox="1"/>
          <p:nvPr/>
        </p:nvSpPr>
        <p:spPr>
          <a:xfrm>
            <a:off x="4347990" y="3888486"/>
            <a:ext cx="1160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Seed</a:t>
            </a:r>
            <a:endParaRPr sz="1100"/>
          </a:p>
        </p:txBody>
      </p:sp>
      <p:sp>
        <p:nvSpPr>
          <p:cNvPr id="422" name="Google Shape;422;p33"/>
          <p:cNvSpPr txBox="1"/>
          <p:nvPr/>
        </p:nvSpPr>
        <p:spPr>
          <a:xfrm>
            <a:off x="5508368" y="3888486"/>
            <a:ext cx="773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42, all generators</a:t>
            </a:r>
            <a:endParaRPr sz="1100"/>
          </a:p>
        </p:txBody>
      </p:sp>
      <p:sp>
        <p:nvSpPr>
          <p:cNvPr id="423" name="Google Shape;423;p33"/>
          <p:cNvSpPr/>
          <p:nvPr/>
        </p:nvSpPr>
        <p:spPr>
          <a:xfrm>
            <a:off x="6638571" y="1248155"/>
            <a:ext cx="2080200" cy="1412700"/>
          </a:xfrm>
          <a:prstGeom prst="roundRect">
            <a:avLst>
              <a:gd fmla="val 5339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3"/>
          <p:cNvSpPr txBox="1"/>
          <p:nvPr/>
        </p:nvSpPr>
        <p:spPr>
          <a:xfrm>
            <a:off x="6803164" y="1371599"/>
            <a:ext cx="17511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SIX MODELS, IDENTICAL SETTINGS</a:t>
            </a:r>
            <a:endParaRPr sz="1100"/>
          </a:p>
        </p:txBody>
      </p:sp>
      <p:sp>
        <p:nvSpPr>
          <p:cNvPr id="425" name="Google Shape;425;p33"/>
          <p:cNvSpPr txBox="1"/>
          <p:nvPr/>
        </p:nvSpPr>
        <p:spPr>
          <a:xfrm>
            <a:off x="6803164" y="1604772"/>
            <a:ext cx="1751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0650" lvl="0" marL="11430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A9CFE8"/>
              </a:buClr>
              <a:buSzPts val="900"/>
              <a:buFont typeface="Arial"/>
              <a:buChar char="•"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3 single-source — one corpus each</a:t>
            </a:r>
            <a:endParaRPr sz="1100"/>
          </a:p>
          <a:p>
            <a:pPr indent="-120650" lvl="0" marL="11430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Clr>
                <a:srgbClr val="A9CFE8"/>
              </a:buClr>
              <a:buSzPts val="900"/>
              <a:buFont typeface="Arial"/>
              <a:buChar char="•"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3 two-source — each omitting one corpus entirely</a:t>
            </a:r>
            <a:endParaRPr sz="1100"/>
          </a:p>
          <a:p>
            <a:pPr indent="-120650" lvl="0" marL="114300" marR="0" rtl="0"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  <a:buClr>
                <a:srgbClr val="A9CFE8"/>
              </a:buClr>
              <a:buSzPts val="900"/>
              <a:buFont typeface="Arial"/>
              <a:buChar char="•"/>
            </a:pPr>
            <a:r>
              <a:rPr b="1" i="0" lang="en" sz="9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Every measured difference is therefore attributable to data or protocol, not to capacity</a:t>
            </a:r>
            <a:endParaRPr sz="1100"/>
          </a:p>
        </p:txBody>
      </p:sp>
      <p:sp>
        <p:nvSpPr>
          <p:cNvPr id="426" name="Google Shape;426;p33"/>
          <p:cNvSpPr/>
          <p:nvPr/>
        </p:nvSpPr>
        <p:spPr>
          <a:xfrm>
            <a:off x="6638571" y="2839211"/>
            <a:ext cx="2080200" cy="1344300"/>
          </a:xfrm>
          <a:prstGeom prst="roundRect">
            <a:avLst>
              <a:gd fmla="val 5612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3"/>
          <p:cNvSpPr txBox="1"/>
          <p:nvPr/>
        </p:nvSpPr>
        <p:spPr>
          <a:xfrm>
            <a:off x="6803164" y="2962656"/>
            <a:ext cx="17511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THREE AUGMENTATION LADDERS</a:t>
            </a:r>
            <a:endParaRPr sz="1100"/>
          </a:p>
        </p:txBody>
      </p:sp>
      <p:sp>
        <p:nvSpPr>
          <p:cNvPr id="428" name="Google Shape;428;p33"/>
          <p:cNvSpPr/>
          <p:nvPr/>
        </p:nvSpPr>
        <p:spPr>
          <a:xfrm>
            <a:off x="6803165" y="3162300"/>
            <a:ext cx="534900" cy="164700"/>
          </a:xfrm>
          <a:prstGeom prst="roundRect">
            <a:avLst>
              <a:gd fmla="val 20832" name="adj"/>
            </a:avLst>
          </a:prstGeom>
          <a:solidFill>
            <a:srgbClr val="A9CF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3"/>
          <p:cNvSpPr txBox="1"/>
          <p:nvPr/>
        </p:nvSpPr>
        <p:spPr>
          <a:xfrm>
            <a:off x="6803165" y="3181350"/>
            <a:ext cx="534900" cy="13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b="1" sz="700">
              <a:solidFill>
                <a:srgbClr val="1C2B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3"/>
          <p:cNvSpPr txBox="1"/>
          <p:nvPr/>
        </p:nvSpPr>
        <p:spPr>
          <a:xfrm>
            <a:off x="7392953" y="3143250"/>
            <a:ext cx="1238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40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mild JPEG q40–100, downscale 0.4–0.9, blur σ ≤ 2.0</a:t>
            </a:r>
            <a:endParaRPr sz="740">
              <a:solidFill>
                <a:srgbClr val="6E82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3"/>
          <p:cNvSpPr/>
          <p:nvPr/>
        </p:nvSpPr>
        <p:spPr>
          <a:xfrm>
            <a:off x="6803165" y="3505200"/>
            <a:ext cx="534900" cy="164700"/>
          </a:xfrm>
          <a:prstGeom prst="roundRect">
            <a:avLst>
              <a:gd fmla="val 20832" name="adj"/>
            </a:avLst>
          </a:prstGeom>
          <a:solidFill>
            <a:srgbClr val="5B9B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3"/>
          <p:cNvSpPr txBox="1"/>
          <p:nvPr/>
        </p:nvSpPr>
        <p:spPr>
          <a:xfrm>
            <a:off x="6803165" y="3524250"/>
            <a:ext cx="534900" cy="13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narrow</a:t>
            </a:r>
            <a:endParaRPr b="1" sz="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3"/>
          <p:cNvSpPr txBox="1"/>
          <p:nvPr/>
        </p:nvSpPr>
        <p:spPr>
          <a:xfrm>
            <a:off x="7392953" y="3486150"/>
            <a:ext cx="1238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the same three families hardened — q10–95, σ ≤ 3.0</a:t>
            </a:r>
            <a:endParaRPr sz="800">
              <a:solidFill>
                <a:srgbClr val="6E82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3"/>
          <p:cNvSpPr/>
          <p:nvPr/>
        </p:nvSpPr>
        <p:spPr>
          <a:xfrm>
            <a:off x="6803165" y="3848100"/>
            <a:ext cx="534900" cy="164700"/>
          </a:xfrm>
          <a:prstGeom prst="roundRect">
            <a:avLst>
              <a:gd fmla="val 20832" name="adj"/>
            </a:avLst>
          </a:prstGeom>
          <a:solidFill>
            <a:srgbClr val="2E6F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3"/>
          <p:cNvSpPr txBox="1"/>
          <p:nvPr/>
        </p:nvSpPr>
        <p:spPr>
          <a:xfrm>
            <a:off x="6803165" y="3867150"/>
            <a:ext cx="534900" cy="13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broad</a:t>
            </a:r>
            <a:endParaRPr b="1" sz="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3"/>
          <p:cNvSpPr txBox="1"/>
          <p:nvPr/>
        </p:nvSpPr>
        <p:spPr>
          <a:xfrm>
            <a:off x="7392953" y="3829050"/>
            <a:ext cx="1238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adds WebP q10–95 and Gaussian noise σ 5–25 on top</a:t>
            </a:r>
            <a:endParaRPr sz="800">
              <a:solidFill>
                <a:srgbClr val="6E82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4"/>
          <p:cNvSpPr txBox="1"/>
          <p:nvPr/>
        </p:nvSpPr>
        <p:spPr>
          <a:xfrm>
            <a:off x="425198" y="4855464"/>
            <a:ext cx="6220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Cross-Dataset Generalization and Robustness of Deepfake Detection</a:t>
            </a:r>
            <a:endParaRPr sz="1100"/>
          </a:p>
        </p:txBody>
      </p:sp>
      <p:sp>
        <p:nvSpPr>
          <p:cNvPr id="443" name="Google Shape;443;p34"/>
          <p:cNvSpPr txBox="1"/>
          <p:nvPr/>
        </p:nvSpPr>
        <p:spPr>
          <a:xfrm>
            <a:off x="7758693" y="4855464"/>
            <a:ext cx="960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10 / 19</a:t>
            </a:r>
            <a:endParaRPr sz="1100"/>
          </a:p>
        </p:txBody>
      </p:sp>
      <p:sp>
        <p:nvSpPr>
          <p:cNvPr id="444" name="Google Shape;444;p34"/>
          <p:cNvSpPr txBox="1"/>
          <p:nvPr/>
        </p:nvSpPr>
        <p:spPr>
          <a:xfrm>
            <a:off x="425198" y="315468"/>
            <a:ext cx="8293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sz="1100"/>
          </a:p>
        </p:txBody>
      </p:sp>
      <p:sp>
        <p:nvSpPr>
          <p:cNvPr id="445" name="Google Shape;445;p34"/>
          <p:cNvSpPr txBox="1"/>
          <p:nvPr/>
        </p:nvSpPr>
        <p:spPr>
          <a:xfrm>
            <a:off x="425198" y="521208"/>
            <a:ext cx="82935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Decision rule, metrics and evaluation protocol</a:t>
            </a:r>
            <a:endParaRPr sz="1100"/>
          </a:p>
        </p:txBody>
      </p:sp>
      <p:sp>
        <p:nvSpPr>
          <p:cNvPr id="446" name="Google Shape;446;p34"/>
          <p:cNvSpPr/>
          <p:nvPr/>
        </p:nvSpPr>
        <p:spPr>
          <a:xfrm>
            <a:off x="425198" y="973836"/>
            <a:ext cx="4046100" cy="1138500"/>
          </a:xfrm>
          <a:prstGeom prst="roundRect">
            <a:avLst>
              <a:gd fmla="val 6626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4"/>
          <p:cNvSpPr txBox="1"/>
          <p:nvPr/>
        </p:nvSpPr>
        <p:spPr>
          <a:xfrm>
            <a:off x="603506" y="1097279"/>
            <a:ext cx="3689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DECISION RULE — DETECTION IS A CLAIM ABOUT A VIDEO</a:t>
            </a:r>
            <a:endParaRPr sz="1100"/>
          </a:p>
        </p:txBody>
      </p:sp>
      <p:sp>
        <p:nvSpPr>
          <p:cNvPr id="448" name="Google Shape;448;p34"/>
          <p:cNvSpPr txBox="1"/>
          <p:nvPr/>
        </p:nvSpPr>
        <p:spPr>
          <a:xfrm>
            <a:off x="603506" y="1357884"/>
            <a:ext cx="3689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p(v) = 1/(2|ℱ(v)|) Σ [ σ(f(x)) + σ(f(flip(x))) ]</a:t>
            </a:r>
            <a:endParaRPr sz="1100"/>
          </a:p>
        </p:txBody>
      </p:sp>
      <p:sp>
        <p:nvSpPr>
          <p:cNvPr id="449" name="Google Shape;449;p34"/>
          <p:cNvSpPr txBox="1"/>
          <p:nvPr/>
        </p:nvSpPr>
        <p:spPr>
          <a:xfrm>
            <a:off x="603506" y="1700784"/>
            <a:ext cx="36897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Mean frame probability over at most 32 sampled frames, with horizontal-flip test-time augmentation.</a:t>
            </a:r>
            <a:endParaRPr sz="1100"/>
          </a:p>
        </p:txBody>
      </p:sp>
      <p:sp>
        <p:nvSpPr>
          <p:cNvPr id="450" name="Google Shape;450;p34"/>
          <p:cNvSpPr/>
          <p:nvPr/>
        </p:nvSpPr>
        <p:spPr>
          <a:xfrm>
            <a:off x="425198" y="2209800"/>
            <a:ext cx="4046100" cy="2190900"/>
          </a:xfrm>
          <a:prstGeom prst="roundRect">
            <a:avLst>
              <a:gd fmla="val 3443" name="adj"/>
            </a:avLst>
          </a:prstGeom>
          <a:solidFill>
            <a:srgbClr val="FAF0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4"/>
          <p:cNvSpPr txBox="1"/>
          <p:nvPr/>
        </p:nvSpPr>
        <p:spPr>
          <a:xfrm>
            <a:off x="603507" y="2333625"/>
            <a:ext cx="3689700" cy="17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C96442"/>
                </a:solidFill>
                <a:latin typeface="Calibri"/>
                <a:ea typeface="Calibri"/>
                <a:cs typeface="Calibri"/>
                <a:sym typeface="Calibri"/>
              </a:rPr>
              <a:t>WHY NOT F₁-OPTIMAL THRESHOLDING?</a:t>
            </a:r>
            <a:endParaRPr b="1" sz="800">
              <a:solidFill>
                <a:srgbClr val="C964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4"/>
          <p:cNvSpPr txBox="1"/>
          <p:nvPr/>
        </p:nvSpPr>
        <p:spPr>
          <a:xfrm>
            <a:off x="603507" y="2552700"/>
            <a:ext cx="3689700" cy="80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50"/>
              </a:spcAft>
              <a:buNone/>
            </a:pPr>
            <a:r>
              <a:rPr lang="en" sz="950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Celeb-DF is 86.4% forged. The F₁-optimal threshold collapses to ≈0, labels </a:t>
            </a:r>
            <a:r>
              <a:rPr b="1" lang="en" sz="950">
                <a:solidFill>
                  <a:srgbClr val="C96442"/>
                </a:solidFill>
                <a:latin typeface="Calibri"/>
                <a:ea typeface="Calibri"/>
                <a:cs typeface="Calibri"/>
                <a:sym typeface="Calibri"/>
              </a:rPr>
              <a:t>every video forged</a:t>
            </a:r>
            <a:r>
              <a:rPr lang="en" sz="950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, and still reports recall 1.000 and "accuracy" 0.864 — exactly the majority-class rate, carrying no information.</a:t>
            </a:r>
            <a:endParaRPr sz="950">
              <a:solidFill>
                <a:srgbClr val="1C2B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4"/>
          <p:cNvSpPr txBox="1"/>
          <p:nvPr/>
        </p:nvSpPr>
        <p:spPr>
          <a:xfrm>
            <a:off x="603507" y="3476625"/>
            <a:ext cx="3689700" cy="23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C96442"/>
                </a:solidFill>
                <a:latin typeface="Cambria"/>
                <a:ea typeface="Cambria"/>
                <a:cs typeface="Cambria"/>
                <a:sym typeface="Cambria"/>
              </a:rPr>
              <a:t>τ* = arg min |FPR(τ) − FNR(τ)|</a:t>
            </a:r>
            <a:endParaRPr b="1" sz="1100">
              <a:solidFill>
                <a:srgbClr val="C9644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54" name="Google Shape;454;p34"/>
          <p:cNvSpPr txBox="1"/>
          <p:nvPr/>
        </p:nvSpPr>
        <p:spPr>
          <a:xfrm>
            <a:off x="603507" y="3857625"/>
            <a:ext cx="36897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all threshold metrics reported at the equal error rate, with balanced accuracy</a:t>
            </a:r>
            <a:endParaRPr i="1" sz="800">
              <a:solidFill>
                <a:srgbClr val="6E82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4"/>
          <p:cNvSpPr/>
          <p:nvPr/>
        </p:nvSpPr>
        <p:spPr>
          <a:xfrm>
            <a:off x="4663459" y="973836"/>
            <a:ext cx="4055400" cy="1138500"/>
          </a:xfrm>
          <a:prstGeom prst="roundRect">
            <a:avLst>
              <a:gd fmla="val 6626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4"/>
          <p:cNvSpPr txBox="1"/>
          <p:nvPr/>
        </p:nvSpPr>
        <p:spPr>
          <a:xfrm>
            <a:off x="4841768" y="1097279"/>
            <a:ext cx="36987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TWO DERIVED QUANTITIES CARRY THE ARGUMENT</a:t>
            </a:r>
            <a:endParaRPr sz="1100"/>
          </a:p>
        </p:txBody>
      </p:sp>
      <p:sp>
        <p:nvSpPr>
          <p:cNvPr id="457" name="Google Shape;457;p34"/>
          <p:cNvSpPr txBox="1"/>
          <p:nvPr/>
        </p:nvSpPr>
        <p:spPr>
          <a:xfrm>
            <a:off x="4841768" y="1330452"/>
            <a:ext cx="1767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Generalization gap</a:t>
            </a:r>
            <a:endParaRPr sz="1100"/>
          </a:p>
        </p:txBody>
      </p:sp>
      <p:sp>
        <p:nvSpPr>
          <p:cNvPr id="458" name="Google Shape;458;p34"/>
          <p:cNvSpPr txBox="1"/>
          <p:nvPr/>
        </p:nvSpPr>
        <p:spPr>
          <a:xfrm>
            <a:off x="4841768" y="1536191"/>
            <a:ext cx="1767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mbria"/>
                <a:ea typeface="Cambria"/>
                <a:cs typeface="Cambria"/>
                <a:sym typeface="Cambria"/>
              </a:rPr>
              <a:t>Δgen(d) = AUCin(d) − AUCLOO(d)</a:t>
            </a:r>
            <a:endParaRPr sz="1100"/>
          </a:p>
        </p:txBody>
      </p:sp>
      <p:sp>
        <p:nvSpPr>
          <p:cNvPr id="459" name="Google Shape;459;p34"/>
          <p:cNvSpPr txBox="1"/>
          <p:nvPr/>
        </p:nvSpPr>
        <p:spPr>
          <a:xfrm>
            <a:off x="4841768" y="1714500"/>
            <a:ext cx="1767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what a model scores on its own data minus what it scores on a corpus it never saw</a:t>
            </a:r>
            <a:endParaRPr sz="1100"/>
          </a:p>
        </p:txBody>
      </p:sp>
      <p:sp>
        <p:nvSpPr>
          <p:cNvPr id="460" name="Google Shape;460;p34"/>
          <p:cNvSpPr txBox="1"/>
          <p:nvPr/>
        </p:nvSpPr>
        <p:spPr>
          <a:xfrm>
            <a:off x="6773434" y="1330452"/>
            <a:ext cx="1767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Retained signal</a:t>
            </a:r>
            <a:endParaRPr sz="1100"/>
          </a:p>
        </p:txBody>
      </p:sp>
      <p:sp>
        <p:nvSpPr>
          <p:cNvPr id="461" name="Google Shape;461;p34"/>
          <p:cNvSpPr txBox="1"/>
          <p:nvPr/>
        </p:nvSpPr>
        <p:spPr>
          <a:xfrm>
            <a:off x="6773434" y="1536191"/>
            <a:ext cx="1767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mbria"/>
                <a:ea typeface="Cambria"/>
                <a:cs typeface="Cambria"/>
                <a:sym typeface="Cambria"/>
              </a:rPr>
              <a:t>ρ = (AUCdeg − 0.5) / (AUCclean − 0.5)</a:t>
            </a:r>
            <a:endParaRPr sz="1100"/>
          </a:p>
        </p:txBody>
      </p:sp>
      <p:sp>
        <p:nvSpPr>
          <p:cNvPr id="462" name="Google Shape;462;p34"/>
          <p:cNvSpPr txBox="1"/>
          <p:nvPr/>
        </p:nvSpPr>
        <p:spPr>
          <a:xfrm>
            <a:off x="6773434" y="1714500"/>
            <a:ext cx="1767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robustness on a scale comparable across models of different clean strength — 0.5 is chance, not zero</a:t>
            </a:r>
            <a:endParaRPr sz="1100"/>
          </a:p>
        </p:txBody>
      </p:sp>
      <p:sp>
        <p:nvSpPr>
          <p:cNvPr id="463" name="Google Shape;463;p34"/>
          <p:cNvSpPr/>
          <p:nvPr/>
        </p:nvSpPr>
        <p:spPr>
          <a:xfrm>
            <a:off x="4663459" y="2209800"/>
            <a:ext cx="4055400" cy="2190900"/>
          </a:xfrm>
          <a:prstGeom prst="roundRect">
            <a:avLst>
              <a:gd fmla="val 3443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4"/>
          <p:cNvSpPr txBox="1"/>
          <p:nvPr/>
        </p:nvSpPr>
        <p:spPr>
          <a:xfrm>
            <a:off x="4841767" y="2333625"/>
            <a:ext cx="3698700" cy="17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EVALUATION PROTOCOL</a:t>
            </a:r>
            <a:endParaRPr b="1" sz="800">
              <a:solidFill>
                <a:srgbClr val="2E6F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4"/>
          <p:cNvSpPr/>
          <p:nvPr/>
        </p:nvSpPr>
        <p:spPr>
          <a:xfrm>
            <a:off x="4841767" y="2552700"/>
            <a:ext cx="246900" cy="246900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1"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4"/>
          <p:cNvSpPr txBox="1"/>
          <p:nvPr/>
        </p:nvSpPr>
        <p:spPr>
          <a:xfrm>
            <a:off x="5225815" y="2543175"/>
            <a:ext cx="3314700" cy="17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In-domain + 3×3 transfer matrix</a:t>
            </a:r>
            <a:endParaRPr b="1" sz="900">
              <a:solidFill>
                <a:srgbClr val="1C2B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4"/>
          <p:cNvSpPr txBox="1"/>
          <p:nvPr/>
        </p:nvSpPr>
        <p:spPr>
          <a:xfrm>
            <a:off x="5225815" y="2705100"/>
            <a:ext cx="3314700" cy="41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Every single-source model scored on every corpus, using the entire target corpus off-diagonal.</a:t>
            </a:r>
            <a:endParaRPr sz="800">
              <a:solidFill>
                <a:srgbClr val="6E82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4"/>
          <p:cNvSpPr/>
          <p:nvPr/>
        </p:nvSpPr>
        <p:spPr>
          <a:xfrm>
            <a:off x="4841767" y="3162300"/>
            <a:ext cx="246900" cy="246900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1"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4"/>
          <p:cNvSpPr txBox="1"/>
          <p:nvPr/>
        </p:nvSpPr>
        <p:spPr>
          <a:xfrm>
            <a:off x="5225815" y="3152775"/>
            <a:ext cx="3314700" cy="17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Three-way leave-one-out</a:t>
            </a:r>
            <a:endParaRPr b="1" sz="900">
              <a:solidFill>
                <a:srgbClr val="1C2B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4"/>
          <p:cNvSpPr txBox="1"/>
          <p:nvPr/>
        </p:nvSpPr>
        <p:spPr>
          <a:xfrm>
            <a:off x="5225815" y="3314700"/>
            <a:ext cx="3314700" cy="41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Each two-source model scored on the corpus withheld from its training set entirely.</a:t>
            </a:r>
            <a:endParaRPr sz="800">
              <a:solidFill>
                <a:srgbClr val="6E82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4"/>
          <p:cNvSpPr/>
          <p:nvPr/>
        </p:nvSpPr>
        <p:spPr>
          <a:xfrm>
            <a:off x="4841767" y="3771900"/>
            <a:ext cx="246900" cy="246900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1"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4"/>
          <p:cNvSpPr txBox="1"/>
          <p:nvPr/>
        </p:nvSpPr>
        <p:spPr>
          <a:xfrm>
            <a:off x="5225815" y="3762375"/>
            <a:ext cx="3314700" cy="17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Degradation + bootstrap</a:t>
            </a:r>
            <a:endParaRPr b="1" sz="900">
              <a:solidFill>
                <a:srgbClr val="1C2B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4"/>
          <p:cNvSpPr txBox="1"/>
          <p:nvPr/>
        </p:nvSpPr>
        <p:spPr>
          <a:xfrm>
            <a:off x="5225815" y="3924300"/>
            <a:ext cx="3314700" cy="41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Fixed ladders on identical held-out videos; 2 000-replicate paired bootstrap, significant only if the interval excludes zero.</a:t>
            </a:r>
            <a:endParaRPr sz="800">
              <a:solidFill>
                <a:srgbClr val="6E82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4"/>
          <p:cNvSpPr txBox="1"/>
          <p:nvPr/>
        </p:nvSpPr>
        <p:spPr>
          <a:xfrm>
            <a:off x="425198" y="4552950"/>
            <a:ext cx="82935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33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Primary metric is AUC — threshold-free, and therefore insensitive to the class imbalance that differs across corpora. </a:t>
            </a:r>
            <a:r>
              <a:rPr b="1" lang="en" sz="833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Implemented in PyTorch with timm; all randomness seeded at 42.</a:t>
            </a:r>
            <a:endParaRPr sz="833">
              <a:solidFill>
                <a:srgbClr val="6E82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5"/>
          <p:cNvSpPr txBox="1"/>
          <p:nvPr/>
        </p:nvSpPr>
        <p:spPr>
          <a:xfrm>
            <a:off x="425198" y="4855464"/>
            <a:ext cx="6220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Cross-Dataset Generalization and Robustness of Deepfake Detection</a:t>
            </a:r>
            <a:endParaRPr sz="1100"/>
          </a:p>
        </p:txBody>
      </p:sp>
      <p:sp>
        <p:nvSpPr>
          <p:cNvPr id="481" name="Google Shape;481;p35"/>
          <p:cNvSpPr txBox="1"/>
          <p:nvPr/>
        </p:nvSpPr>
        <p:spPr>
          <a:xfrm>
            <a:off x="7758693" y="4855464"/>
            <a:ext cx="960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11 / 19</a:t>
            </a:r>
            <a:endParaRPr sz="1100"/>
          </a:p>
        </p:txBody>
      </p:sp>
      <p:sp>
        <p:nvSpPr>
          <p:cNvPr id="482" name="Google Shape;482;p35"/>
          <p:cNvSpPr txBox="1"/>
          <p:nvPr/>
        </p:nvSpPr>
        <p:spPr>
          <a:xfrm>
            <a:off x="425198" y="315468"/>
            <a:ext cx="8293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RESULTS &amp; DISCUSSION</a:t>
            </a:r>
            <a:endParaRPr sz="1100"/>
          </a:p>
        </p:txBody>
      </p:sp>
      <p:sp>
        <p:nvSpPr>
          <p:cNvPr id="483" name="Google Shape;483;p35"/>
          <p:cNvSpPr txBox="1"/>
          <p:nvPr/>
        </p:nvSpPr>
        <p:spPr>
          <a:xfrm>
            <a:off x="425198" y="521208"/>
            <a:ext cx="82935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Cross-dataset transfer collapses</a:t>
            </a:r>
            <a:endParaRPr sz="1100"/>
          </a:p>
        </p:txBody>
      </p:sp>
      <p:pic>
        <p:nvPicPr>
          <p:cNvPr descr="transfer.png" id="484" name="Google Shape;48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198" y="993410"/>
            <a:ext cx="2846071" cy="2223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ap.png" id="485" name="Google Shape;485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7866" y="1114323"/>
            <a:ext cx="3120391" cy="1982166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35"/>
          <p:cNvSpPr/>
          <p:nvPr/>
        </p:nvSpPr>
        <p:spPr>
          <a:xfrm>
            <a:off x="6638571" y="973836"/>
            <a:ext cx="2080200" cy="1069800"/>
          </a:xfrm>
          <a:prstGeom prst="roundRect">
            <a:avLst>
              <a:gd fmla="val 7051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5"/>
          <p:cNvSpPr txBox="1"/>
          <p:nvPr/>
        </p:nvSpPr>
        <p:spPr>
          <a:xfrm>
            <a:off x="6789448" y="1083563"/>
            <a:ext cx="17784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READING 1</a:t>
            </a:r>
            <a:endParaRPr sz="1100"/>
          </a:p>
        </p:txBody>
      </p:sp>
      <p:sp>
        <p:nvSpPr>
          <p:cNvPr id="488" name="Google Shape;488;p35"/>
          <p:cNvSpPr txBox="1"/>
          <p:nvPr/>
        </p:nvSpPr>
        <p:spPr>
          <a:xfrm>
            <a:off x="6789448" y="1275588"/>
            <a:ext cx="1778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In-domain is close to solved</a:t>
            </a:r>
            <a:endParaRPr sz="1100"/>
          </a:p>
        </p:txBody>
      </p:sp>
      <p:sp>
        <p:nvSpPr>
          <p:cNvPr id="489" name="Google Shape;489;p35"/>
          <p:cNvSpPr txBox="1"/>
          <p:nvPr/>
        </p:nvSpPr>
        <p:spPr>
          <a:xfrm>
            <a:off x="6789448" y="1508759"/>
            <a:ext cx="1778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0.9942 on Celeb-DF and 0.9998 on FF++, at equal error rates of 0.029 and 0.013 — under identity-grouped splitting that forbids a face from appearing on both sides.</a:t>
            </a:r>
            <a:endParaRPr sz="1100"/>
          </a:p>
        </p:txBody>
      </p:sp>
      <p:sp>
        <p:nvSpPr>
          <p:cNvPr id="490" name="Google Shape;490;p35"/>
          <p:cNvSpPr/>
          <p:nvPr/>
        </p:nvSpPr>
        <p:spPr>
          <a:xfrm>
            <a:off x="6638571" y="2167128"/>
            <a:ext cx="2080200" cy="1069800"/>
          </a:xfrm>
          <a:prstGeom prst="roundRect">
            <a:avLst>
              <a:gd fmla="val 7051" name="adj"/>
            </a:avLst>
          </a:prstGeom>
          <a:solidFill>
            <a:srgbClr val="FAF0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5"/>
          <p:cNvSpPr txBox="1"/>
          <p:nvPr/>
        </p:nvSpPr>
        <p:spPr>
          <a:xfrm>
            <a:off x="6789448" y="2276856"/>
            <a:ext cx="17784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C96442"/>
                </a:solidFill>
                <a:latin typeface="Calibri"/>
                <a:ea typeface="Calibri"/>
                <a:cs typeface="Calibri"/>
                <a:sym typeface="Calibri"/>
              </a:rPr>
              <a:t>READING 2</a:t>
            </a:r>
            <a:endParaRPr sz="1100"/>
          </a:p>
        </p:txBody>
      </p:sp>
      <p:sp>
        <p:nvSpPr>
          <p:cNvPr id="492" name="Google Shape;492;p35"/>
          <p:cNvSpPr txBox="1"/>
          <p:nvPr/>
        </p:nvSpPr>
        <p:spPr>
          <a:xfrm>
            <a:off x="6789448" y="2468880"/>
            <a:ext cx="1778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Transfer collapses</a:t>
            </a:r>
            <a:endParaRPr sz="1100"/>
          </a:p>
        </p:txBody>
      </p:sp>
      <p:sp>
        <p:nvSpPr>
          <p:cNvPr id="493" name="Google Shape;493;p35"/>
          <p:cNvSpPr txBox="1"/>
          <p:nvPr/>
        </p:nvSpPr>
        <p:spPr>
          <a:xfrm>
            <a:off x="6789448" y="2702052"/>
            <a:ext cx="1778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Every off-diagonal cell falls between 0.626 and 0.820. The worst is close to chance for a balanced target. Both readings are true.</a:t>
            </a:r>
            <a:endParaRPr sz="1100"/>
          </a:p>
        </p:txBody>
      </p:sp>
      <p:sp>
        <p:nvSpPr>
          <p:cNvPr id="494" name="Google Shape;494;p35"/>
          <p:cNvSpPr/>
          <p:nvPr/>
        </p:nvSpPr>
        <p:spPr>
          <a:xfrm>
            <a:off x="425198" y="3286125"/>
            <a:ext cx="2636400" cy="952500"/>
          </a:xfrm>
          <a:prstGeom prst="roundRect">
            <a:avLst>
              <a:gd fmla="val 7919" name="adj"/>
            </a:avLst>
          </a:prstGeom>
          <a:solidFill>
            <a:srgbClr val="F6FA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5"/>
          <p:cNvSpPr txBox="1"/>
          <p:nvPr/>
        </p:nvSpPr>
        <p:spPr>
          <a:xfrm>
            <a:off x="576074" y="3381375"/>
            <a:ext cx="23349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The matrix is asymmetric</a:t>
            </a:r>
            <a:endParaRPr b="1" sz="900">
              <a:solidFill>
                <a:srgbClr val="1C2B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5"/>
          <p:cNvSpPr txBox="1"/>
          <p:nvPr/>
        </p:nvSpPr>
        <p:spPr>
          <a:xfrm>
            <a:off x="576074" y="3733800"/>
            <a:ext cx="23349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40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A Celeb-DF model scores 0.8196 on FF++, but an FF++ model returns only 0.7302 on Celeb-DF — training on higher-quality forgeries transfers downward more readily than the reverse.</a:t>
            </a:r>
            <a:endParaRPr b="0" sz="740">
              <a:solidFill>
                <a:srgbClr val="6E82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5"/>
          <p:cNvSpPr/>
          <p:nvPr/>
        </p:nvSpPr>
        <p:spPr>
          <a:xfrm>
            <a:off x="3253750" y="3286125"/>
            <a:ext cx="2636400" cy="952500"/>
          </a:xfrm>
          <a:prstGeom prst="roundRect">
            <a:avLst>
              <a:gd fmla="val 7919" name="adj"/>
            </a:avLst>
          </a:prstGeom>
          <a:solidFill>
            <a:srgbClr val="F6FA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5"/>
          <p:cNvSpPr txBox="1"/>
          <p:nvPr/>
        </p:nvSpPr>
        <p:spPr>
          <a:xfrm>
            <a:off x="3404626" y="3381375"/>
            <a:ext cx="23349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Multi-source narrows, never closes</a:t>
            </a:r>
            <a:endParaRPr b="1" sz="900">
              <a:solidFill>
                <a:srgbClr val="1C2B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5"/>
          <p:cNvSpPr txBox="1"/>
          <p:nvPr/>
        </p:nvSpPr>
        <p:spPr>
          <a:xfrm>
            <a:off x="3404626" y="3733800"/>
            <a:ext cx="23349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40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Adding a second training corpus helps in three of three directions (+0.0348, +0.0364, +0.0767) — but the gains stay small against the 0.2292 gap they are meant to close.</a:t>
            </a:r>
            <a:endParaRPr b="0" sz="740">
              <a:solidFill>
                <a:srgbClr val="6E82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5"/>
          <p:cNvSpPr/>
          <p:nvPr/>
        </p:nvSpPr>
        <p:spPr>
          <a:xfrm>
            <a:off x="6082294" y="3286125"/>
            <a:ext cx="2636400" cy="952500"/>
          </a:xfrm>
          <a:prstGeom prst="roundRect">
            <a:avLst>
              <a:gd fmla="val 7919" name="adj"/>
            </a:avLst>
          </a:prstGeom>
          <a:solidFill>
            <a:srgbClr val="F6FA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5"/>
          <p:cNvSpPr txBox="1"/>
          <p:nvPr/>
        </p:nvSpPr>
        <p:spPr>
          <a:xfrm>
            <a:off x="6233170" y="3381375"/>
            <a:ext cx="23349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The operating point mattered more than any model choice</a:t>
            </a:r>
            <a:endParaRPr b="1" sz="900">
              <a:solidFill>
                <a:srgbClr val="1C2B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5"/>
          <p:cNvSpPr txBox="1"/>
          <p:nvPr/>
        </p:nvSpPr>
        <p:spPr>
          <a:xfrm>
            <a:off x="6233170" y="3733800"/>
            <a:ext cx="23349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Re-computing at the equal error rate corrects Celeb-DF's leave-one-out "accuracy" from 0.864 to 0.701 and DFDC's from 0.811 to 0.698.</a:t>
            </a:r>
            <a:endParaRPr b="0" sz="800">
              <a:solidFill>
                <a:srgbClr val="6E82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6"/>
          <p:cNvSpPr txBox="1"/>
          <p:nvPr/>
        </p:nvSpPr>
        <p:spPr>
          <a:xfrm>
            <a:off x="425198" y="4855464"/>
            <a:ext cx="6220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Cross-Dataset Generalization and Robustness of Deepfake Detection</a:t>
            </a:r>
            <a:endParaRPr sz="1100"/>
          </a:p>
        </p:txBody>
      </p:sp>
      <p:sp>
        <p:nvSpPr>
          <p:cNvPr id="509" name="Google Shape;509;p36"/>
          <p:cNvSpPr txBox="1"/>
          <p:nvPr/>
        </p:nvSpPr>
        <p:spPr>
          <a:xfrm>
            <a:off x="7758693" y="4855464"/>
            <a:ext cx="960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12 / 19</a:t>
            </a:r>
            <a:endParaRPr sz="1100"/>
          </a:p>
        </p:txBody>
      </p:sp>
      <p:sp>
        <p:nvSpPr>
          <p:cNvPr id="510" name="Google Shape;510;p36"/>
          <p:cNvSpPr txBox="1"/>
          <p:nvPr/>
        </p:nvSpPr>
        <p:spPr>
          <a:xfrm>
            <a:off x="425198" y="315468"/>
            <a:ext cx="8293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RESULTS &amp; DISCUSSION</a:t>
            </a:r>
            <a:endParaRPr sz="1100"/>
          </a:p>
        </p:txBody>
      </p:sp>
      <p:sp>
        <p:nvSpPr>
          <p:cNvPr id="511" name="Google Shape;511;p36"/>
          <p:cNvSpPr txBox="1"/>
          <p:nvPr/>
        </p:nvSpPr>
        <p:spPr>
          <a:xfrm>
            <a:off x="425198" y="521208"/>
            <a:ext cx="82935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Explainability: where attention goes out of domain</a:t>
            </a:r>
            <a:endParaRPr sz="1100"/>
          </a:p>
        </p:txBody>
      </p:sp>
      <p:sp>
        <p:nvSpPr>
          <p:cNvPr id="512" name="Google Shape;512;p36"/>
          <p:cNvSpPr txBox="1"/>
          <p:nvPr/>
        </p:nvSpPr>
        <p:spPr>
          <a:xfrm>
            <a:off x="425198" y="932688"/>
            <a:ext cx="829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Grad-CAM reduced from an illustration to three scalars per map — so attention drift becomes a number, measured on identical images.</a:t>
            </a:r>
            <a:endParaRPr sz="1100"/>
          </a:p>
        </p:txBody>
      </p:sp>
      <p:pic>
        <p:nvPicPr>
          <p:cNvPr descr="cam.png" id="513" name="Google Shape;51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5633" y="1220723"/>
            <a:ext cx="3776957" cy="2098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dcam.png" id="514" name="Google Shape;51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93916" y="1549907"/>
            <a:ext cx="1440181" cy="1440181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36"/>
          <p:cNvSpPr txBox="1"/>
          <p:nvPr/>
        </p:nvSpPr>
        <p:spPr>
          <a:xfrm>
            <a:off x="7516399" y="1248155"/>
            <a:ext cx="1202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Grad-CAM overlays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Correctly-classified Celeb-DF forgeries: attention sits on the central face region.</a:t>
            </a:r>
            <a:endParaRPr sz="1100"/>
          </a:p>
        </p:txBody>
      </p:sp>
      <p:sp>
        <p:nvSpPr>
          <p:cNvPr id="516" name="Google Shape;516;p36"/>
          <p:cNvSpPr txBox="1"/>
          <p:nvPr/>
        </p:nvSpPr>
        <p:spPr>
          <a:xfrm>
            <a:off x="7516399" y="2221992"/>
            <a:ext cx="1202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Out of domain the same architecture keeps this </a:t>
            </a:r>
            <a:r>
              <a:rPr b="1" i="0" lang="en" sz="8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confident</a:t>
            </a: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 appearance while the mass moves toward mouth, chin and neck.</a:t>
            </a:r>
            <a:endParaRPr sz="1100"/>
          </a:p>
        </p:txBody>
      </p:sp>
      <p:sp>
        <p:nvSpPr>
          <p:cNvPr id="517" name="Google Shape;517;p36"/>
          <p:cNvSpPr/>
          <p:nvPr/>
        </p:nvSpPr>
        <p:spPr>
          <a:xfrm>
            <a:off x="425198" y="3286125"/>
            <a:ext cx="8293500" cy="1095300"/>
          </a:xfrm>
          <a:prstGeom prst="roundRect">
            <a:avLst>
              <a:gd fmla="val 6886" name="adj"/>
            </a:avLst>
          </a:prstGeom>
          <a:solidFill>
            <a:srgbClr val="FAF0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6"/>
          <p:cNvSpPr txBox="1"/>
          <p:nvPr/>
        </p:nvSpPr>
        <p:spPr>
          <a:xfrm>
            <a:off x="617223" y="3381375"/>
            <a:ext cx="7909500" cy="19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C96442"/>
                </a:solidFill>
                <a:latin typeface="Calibri"/>
                <a:ea typeface="Calibri"/>
                <a:cs typeface="Calibri"/>
                <a:sym typeface="Calibri"/>
              </a:rPr>
              <a:t>THE MECHANISM BEHIND THE GAP — NOT A RESTATEMENT OF IT</a:t>
            </a:r>
            <a:endParaRPr b="1" sz="850">
              <a:solidFill>
                <a:srgbClr val="C964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6"/>
          <p:cNvSpPr txBox="1"/>
          <p:nvPr/>
        </p:nvSpPr>
        <p:spPr>
          <a:xfrm>
            <a:off x="617223" y="3619500"/>
            <a:ext cx="2499300" cy="19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C96442"/>
                </a:solidFill>
                <a:latin typeface="Cambria"/>
                <a:ea typeface="Cambria"/>
                <a:cs typeface="Cambria"/>
                <a:sym typeface="Cambria"/>
              </a:rPr>
              <a:t>+26.5% to +39.3%</a:t>
            </a:r>
            <a:endParaRPr b="1" sz="1150">
              <a:solidFill>
                <a:srgbClr val="C9644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20" name="Google Shape;520;p36"/>
          <p:cNvSpPr txBox="1"/>
          <p:nvPr/>
        </p:nvSpPr>
        <p:spPr>
          <a:xfrm>
            <a:off x="617223" y="3810000"/>
            <a:ext cx="2499300" cy="16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Border energy rises</a:t>
            </a:r>
            <a:endParaRPr b="1" sz="950">
              <a:solidFill>
                <a:srgbClr val="1C2B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6"/>
          <p:cNvSpPr txBox="1"/>
          <p:nvPr/>
        </p:nvSpPr>
        <p:spPr>
          <a:xfrm>
            <a:off x="617223" y="3981450"/>
            <a:ext cx="2499300" cy="362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40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Attention outside the central 70% of the crop increases in every corpus: 0.4315→0.5456, 0.3573→0.4976, 0.2970→0.3809.</a:t>
            </a:r>
            <a:endParaRPr b="0" sz="740">
              <a:solidFill>
                <a:srgbClr val="6E82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6"/>
          <p:cNvSpPr txBox="1"/>
          <p:nvPr/>
        </p:nvSpPr>
        <p:spPr>
          <a:xfrm>
            <a:off x="3322330" y="3619500"/>
            <a:ext cx="2499300" cy="19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C96442"/>
                </a:solidFill>
                <a:latin typeface="Cambria"/>
                <a:ea typeface="Cambria"/>
                <a:cs typeface="Cambria"/>
                <a:sym typeface="Cambria"/>
              </a:rPr>
              <a:t>0.9774 → 0.9580</a:t>
            </a:r>
            <a:endParaRPr b="1" sz="1150">
              <a:solidFill>
                <a:srgbClr val="C9644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23" name="Google Shape;523;p36"/>
          <p:cNvSpPr txBox="1"/>
          <p:nvPr/>
        </p:nvSpPr>
        <p:spPr>
          <a:xfrm>
            <a:off x="3322330" y="3810000"/>
            <a:ext cx="2499300" cy="16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Entropy falls</a:t>
            </a:r>
            <a:endParaRPr b="1" sz="950">
              <a:solidFill>
                <a:srgbClr val="1C2B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6"/>
          <p:cNvSpPr txBox="1"/>
          <p:nvPr/>
        </p:nvSpPr>
        <p:spPr>
          <a:xfrm>
            <a:off x="3322330" y="3981450"/>
            <a:ext cx="2499300" cy="362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The map becomes MORE concentrated, not more diffuse — in all three corpora. The model is not hedging.</a:t>
            </a:r>
            <a:endParaRPr b="0" sz="800">
              <a:solidFill>
                <a:srgbClr val="6E82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6"/>
          <p:cNvSpPr txBox="1"/>
          <p:nvPr/>
        </p:nvSpPr>
        <p:spPr>
          <a:xfrm>
            <a:off x="6027430" y="3619500"/>
            <a:ext cx="2499300" cy="19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C96442"/>
                </a:solidFill>
                <a:latin typeface="Cambria"/>
                <a:ea typeface="Cambria"/>
                <a:cs typeface="Cambria"/>
                <a:sym typeface="Cambria"/>
              </a:rPr>
              <a:t>mouth · chin · neck</a:t>
            </a:r>
            <a:endParaRPr b="1" sz="1150">
              <a:solidFill>
                <a:srgbClr val="C9644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26" name="Google Shape;526;p36"/>
          <p:cNvSpPr txBox="1"/>
          <p:nvPr/>
        </p:nvSpPr>
        <p:spPr>
          <a:xfrm>
            <a:off x="6027430" y="3810000"/>
            <a:ext cx="2499300" cy="16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Centre of mass drifts</a:t>
            </a:r>
            <a:endParaRPr b="1" sz="950">
              <a:solidFill>
                <a:srgbClr val="1C2B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6"/>
          <p:cNvSpPr txBox="1"/>
          <p:nvPr/>
        </p:nvSpPr>
        <p:spPr>
          <a:xfrm>
            <a:off x="6027430" y="3981450"/>
            <a:ext cx="2499300" cy="362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FF++ moves furthest, from 0.450 to 0.622 vertically. Attention leaves the face and settles below it.</a:t>
            </a:r>
            <a:endParaRPr b="0" sz="800">
              <a:solidFill>
                <a:srgbClr val="6E82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6"/>
          <p:cNvSpPr txBox="1"/>
          <p:nvPr/>
        </p:nvSpPr>
        <p:spPr>
          <a:xfrm>
            <a:off x="425198" y="4457700"/>
            <a:ext cx="8293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The out-of-domain model is not confused or hedging. </a:t>
            </a:r>
            <a:r>
              <a:rPr b="1" lang="en" sz="1000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It is confidently attending to the wrong region — so its confidence carries no warning that it has failed.</a:t>
            </a:r>
            <a:endParaRPr b="0" sz="1000">
              <a:solidFill>
                <a:srgbClr val="6E82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7"/>
          <p:cNvSpPr txBox="1"/>
          <p:nvPr/>
        </p:nvSpPr>
        <p:spPr>
          <a:xfrm>
            <a:off x="425198" y="4855464"/>
            <a:ext cx="622021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Cross-Dataset Generalization and Robustness of Deepfake Detection</a:t>
            </a:r>
            <a:endParaRPr sz="1100"/>
          </a:p>
        </p:txBody>
      </p:sp>
      <p:sp>
        <p:nvSpPr>
          <p:cNvPr id="535" name="Google Shape;535;p37"/>
          <p:cNvSpPr txBox="1"/>
          <p:nvPr/>
        </p:nvSpPr>
        <p:spPr>
          <a:xfrm>
            <a:off x="7758693" y="4855464"/>
            <a:ext cx="9601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13 / 19</a:t>
            </a:r>
            <a:endParaRPr sz="1100"/>
          </a:p>
        </p:txBody>
      </p:sp>
      <p:sp>
        <p:nvSpPr>
          <p:cNvPr id="536" name="Google Shape;536;p37"/>
          <p:cNvSpPr txBox="1"/>
          <p:nvPr/>
        </p:nvSpPr>
        <p:spPr>
          <a:xfrm>
            <a:off x="425198" y="315468"/>
            <a:ext cx="829361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RESULTS &amp; DISCUSSION</a:t>
            </a:r>
            <a:endParaRPr sz="1100"/>
          </a:p>
        </p:txBody>
      </p:sp>
      <p:sp>
        <p:nvSpPr>
          <p:cNvPr id="537" name="Google Shape;537;p37"/>
          <p:cNvSpPr txBox="1"/>
          <p:nvPr/>
        </p:nvSpPr>
        <p:spPr>
          <a:xfrm>
            <a:off x="425198" y="521208"/>
            <a:ext cx="8293619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Robustness and statistical validation</a:t>
            </a:r>
            <a:endParaRPr sz="1100"/>
          </a:p>
        </p:txBody>
      </p:sp>
      <p:sp>
        <p:nvSpPr>
          <p:cNvPr id="538" name="Google Shape;538;p37"/>
          <p:cNvSpPr txBox="1"/>
          <p:nvPr/>
        </p:nvSpPr>
        <p:spPr>
          <a:xfrm>
            <a:off x="425198" y="932688"/>
            <a:ext cx="829361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The transferred signal proved not merely weaker, but fragile — and the obvious remedy repairs only what it trained on.</a:t>
            </a:r>
            <a:endParaRPr sz="1100"/>
          </a:p>
        </p:txBody>
      </p:sp>
      <p:pic>
        <p:nvPicPr>
          <p:cNvPr descr="robust.png" id="539" name="Google Shape;53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4299" y="1207007"/>
            <a:ext cx="3655400" cy="16596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ot.png" id="540" name="Google Shape;540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6002" y="2976372"/>
            <a:ext cx="3031998" cy="157734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37"/>
          <p:cNvSpPr txBox="1"/>
          <p:nvPr/>
        </p:nvSpPr>
        <p:spPr>
          <a:xfrm>
            <a:off x="425198" y="4622291"/>
            <a:ext cx="8293619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In-domain models retain 83.2%, 93.8% and 99.3% at the same JPEG q10 — so the cross-corpus gap is </a:t>
            </a:r>
            <a:r>
              <a:rPr b="1" i="1" lang="en" sz="9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 a compression artefact. Compression-aware training teaches the model the specific corruptions in its augmentation set, </a:t>
            </a:r>
            <a:r>
              <a:rPr b="1" i="0" lang="en" sz="900" u="none" cap="none" strike="noStrike">
                <a:solidFill>
                  <a:srgbClr val="C96442"/>
                </a:solidFill>
                <a:latin typeface="Calibri"/>
                <a:ea typeface="Calibri"/>
                <a:cs typeface="Calibri"/>
                <a:sym typeface="Calibri"/>
              </a:rPr>
              <a:t>not robustness as a general property.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8"/>
          <p:cNvSpPr txBox="1"/>
          <p:nvPr/>
        </p:nvSpPr>
        <p:spPr>
          <a:xfrm>
            <a:off x="425198" y="4855464"/>
            <a:ext cx="622021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Cross-Dataset Generalization and Robustness of Deepfake Detection</a:t>
            </a:r>
            <a:endParaRPr sz="1100"/>
          </a:p>
        </p:txBody>
      </p:sp>
      <p:sp>
        <p:nvSpPr>
          <p:cNvPr id="548" name="Google Shape;548;p38"/>
          <p:cNvSpPr txBox="1"/>
          <p:nvPr/>
        </p:nvSpPr>
        <p:spPr>
          <a:xfrm>
            <a:off x="7758693" y="4855464"/>
            <a:ext cx="9601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14 / 19</a:t>
            </a:r>
            <a:endParaRPr sz="1100"/>
          </a:p>
        </p:txBody>
      </p:sp>
      <p:sp>
        <p:nvSpPr>
          <p:cNvPr id="549" name="Google Shape;549;p38"/>
          <p:cNvSpPr txBox="1"/>
          <p:nvPr/>
        </p:nvSpPr>
        <p:spPr>
          <a:xfrm>
            <a:off x="425198" y="315468"/>
            <a:ext cx="829361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RESULTS &amp; DISCUSSION</a:t>
            </a:r>
            <a:endParaRPr sz="1100"/>
          </a:p>
        </p:txBody>
      </p:sp>
      <p:sp>
        <p:nvSpPr>
          <p:cNvPr id="550" name="Google Shape;550;p38"/>
          <p:cNvSpPr txBox="1"/>
          <p:nvPr/>
        </p:nvSpPr>
        <p:spPr>
          <a:xfrm>
            <a:off x="425198" y="521208"/>
            <a:ext cx="8293619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Ablation study — and what actually helped</a:t>
            </a:r>
            <a:endParaRPr sz="1100"/>
          </a:p>
        </p:txBody>
      </p:sp>
      <p:sp>
        <p:nvSpPr>
          <p:cNvPr id="551" name="Google Shape;551;p38"/>
          <p:cNvSpPr txBox="1"/>
          <p:nvPr/>
        </p:nvSpPr>
        <p:spPr>
          <a:xfrm>
            <a:off x="425198" y="932688"/>
            <a:ext cx="829361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Each row adds one technique to the row above, on a fixed EfficientNet-B0 backbone. AUC is measured on the corpus held out from training.</a:t>
            </a:r>
            <a:endParaRPr sz="1100"/>
          </a:p>
        </p:txBody>
      </p:sp>
      <p:graphicFrame>
        <p:nvGraphicFramePr>
          <p:cNvPr id="552" name="Google Shape;552;p38"/>
          <p:cNvGraphicFramePr/>
          <p:nvPr/>
        </p:nvGraphicFramePr>
        <p:xfrm>
          <a:off x="425198" y="1234439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{E10E58A4-950C-4695-85A7-76B431A150F6}</a:tableStyleId>
              </a:tblPr>
              <a:tblGrid>
                <a:gridCol w="276225"/>
                <a:gridCol w="3003925"/>
                <a:gridCol w="359075"/>
                <a:gridCol w="428125"/>
                <a:gridCol w="469575"/>
                <a:gridCol w="455775"/>
                <a:gridCol w="359075"/>
                <a:gridCol w="414325"/>
                <a:gridCol w="386700"/>
                <a:gridCol w="759600"/>
                <a:gridCol w="690550"/>
                <a:gridCol w="690550"/>
              </a:tblGrid>
              <a:tr h="301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Id.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Heavy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Broad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EER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Crop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Ens.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Celeb-DF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FF++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DFDC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2E6F9E"/>
                    </a:solidFill>
                  </a:tcPr>
                </a:tc>
              </a:tr>
              <a:tr h="22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Single-source (in-domain reference)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2E6F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0.9942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2E6F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0.9998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2E6F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0.8504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EDF5FB"/>
                    </a:solidFill>
                  </a:tcPr>
                </a:tc>
              </a:tr>
              <a:tr h="22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Leave-one-out, F₁-optimal threshold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0.7650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0.8559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0.7700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</a:tr>
              <a:tr h="22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 equal-error-rate threshold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0.7650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0.8559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0.7700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</a:tr>
              <a:tr h="22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 + heavy (compression-aware) augmentation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0.7644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0.8417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0.7641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</a:tr>
              <a:tr h="22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 + broad augmentation (WebP, noise)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C964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0.7058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AF0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0.8352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0.7795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</a:tr>
              <a:tr h="22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 + crop-quality filtering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0.7823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0.8623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0.7748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</a:tr>
              <a:tr h="22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 + rank-averaged ensemble of four checkpoints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2E6F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0.8314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2E6F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0.8665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C964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0.7396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AF0EB"/>
                    </a:solidFill>
                  </a:tcPr>
                </a:tc>
              </a:tr>
            </a:tbl>
          </a:graphicData>
        </a:graphic>
      </p:graphicFrame>
      <p:sp>
        <p:nvSpPr>
          <p:cNvPr id="553" name="Google Shape;553;p38"/>
          <p:cNvSpPr txBox="1"/>
          <p:nvPr/>
        </p:nvSpPr>
        <p:spPr>
          <a:xfrm>
            <a:off x="425198" y="3140964"/>
            <a:ext cx="8293619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Row 1 is the in-domain reference and is not comparable with rows 2–7, which are scored on a corpus never seen in training.  ✓ present, × absent.</a:t>
            </a:r>
            <a:endParaRPr sz="1100"/>
          </a:p>
        </p:txBody>
      </p:sp>
      <p:sp>
        <p:nvSpPr>
          <p:cNvPr id="554" name="Google Shape;554;p38"/>
          <p:cNvSpPr/>
          <p:nvPr/>
        </p:nvSpPr>
        <p:spPr>
          <a:xfrm>
            <a:off x="425198" y="3401568"/>
            <a:ext cx="2636523" cy="1110996"/>
          </a:xfrm>
          <a:prstGeom prst="roundRect">
            <a:avLst>
              <a:gd fmla="val 6790" name="adj"/>
            </a:avLst>
          </a:prstGeom>
          <a:solidFill>
            <a:srgbClr val="FAF0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8"/>
          <p:cNvSpPr txBox="1"/>
          <p:nvPr/>
        </p:nvSpPr>
        <p:spPr>
          <a:xfrm>
            <a:off x="576074" y="3525012"/>
            <a:ext cx="2334769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Rows 2 and 3 are the same model</a:t>
            </a:r>
            <a:endParaRPr sz="1100"/>
          </a:p>
        </p:txBody>
      </p:sp>
      <p:sp>
        <p:nvSpPr>
          <p:cNvPr id="556" name="Google Shape;556;p38"/>
          <p:cNvSpPr txBox="1"/>
          <p:nvPr/>
        </p:nvSpPr>
        <p:spPr>
          <a:xfrm>
            <a:off x="576074" y="3744468"/>
            <a:ext cx="233476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Identical predictions — only the threshold moves. Row 2 reports the highest F₁ in the table (0.9269) while being the least useful configuration in it. Any component grid can be gamed by the operating point, which is why AUC is our primary metric.</a:t>
            </a:r>
            <a:endParaRPr sz="1100"/>
          </a:p>
        </p:txBody>
      </p:sp>
      <p:sp>
        <p:nvSpPr>
          <p:cNvPr id="557" name="Google Shape;557;p38"/>
          <p:cNvSpPr/>
          <p:nvPr/>
        </p:nvSpPr>
        <p:spPr>
          <a:xfrm>
            <a:off x="3253745" y="3401568"/>
            <a:ext cx="2636523" cy="1110996"/>
          </a:xfrm>
          <a:prstGeom prst="roundRect">
            <a:avLst>
              <a:gd fmla="val 6790" name="adj"/>
            </a:avLst>
          </a:prstGeom>
          <a:solidFill>
            <a:srgbClr val="FAF0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8"/>
          <p:cNvSpPr txBox="1"/>
          <p:nvPr/>
        </p:nvSpPr>
        <p:spPr>
          <a:xfrm>
            <a:off x="3404622" y="3525012"/>
            <a:ext cx="2334769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Row 7 is also a caution</a:t>
            </a:r>
            <a:endParaRPr sz="1100"/>
          </a:p>
        </p:txBody>
      </p:sp>
      <p:sp>
        <p:nvSpPr>
          <p:cNvPr id="559" name="Google Shape;559;p38"/>
          <p:cNvSpPr txBox="1"/>
          <p:nvPr/>
        </p:nvSpPr>
        <p:spPr>
          <a:xfrm>
            <a:off x="3404622" y="3744468"/>
            <a:ext cx="233476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Ensembling gives the best Celeb-DF and FF++ figures in the table but loses on DFDC, falling to 0.7396 from 0.7700, because two weak members drag the rank average down. A grid invites the reading that more ticks are better. That row is the counterexample.</a:t>
            </a:r>
            <a:endParaRPr sz="1100"/>
          </a:p>
        </p:txBody>
      </p:sp>
      <p:sp>
        <p:nvSpPr>
          <p:cNvPr id="560" name="Google Shape;560;p38"/>
          <p:cNvSpPr/>
          <p:nvPr/>
        </p:nvSpPr>
        <p:spPr>
          <a:xfrm>
            <a:off x="6082293" y="3401568"/>
            <a:ext cx="2636523" cy="1110996"/>
          </a:xfrm>
          <a:prstGeom prst="roundRect">
            <a:avLst>
              <a:gd fmla="val 6790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8"/>
          <p:cNvSpPr txBox="1"/>
          <p:nvPr/>
        </p:nvSpPr>
        <p:spPr>
          <a:xfrm>
            <a:off x="6233170" y="3525012"/>
            <a:ext cx="2334769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Two interventions cost nothing</a:t>
            </a:r>
            <a:endParaRPr sz="1100"/>
          </a:p>
        </p:txBody>
      </p:sp>
      <p:sp>
        <p:nvSpPr>
          <p:cNvPr id="562" name="Google Shape;562;p38"/>
          <p:cNvSpPr txBox="1"/>
          <p:nvPr/>
        </p:nvSpPr>
        <p:spPr>
          <a:xfrm>
            <a:off x="6233170" y="3744468"/>
            <a:ext cx="233476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Rank-averaging four checkpoints already on disk reaches 0.8314 against a best single model of 0.7650 — a gain of +0.066, the largest single improvement measured in the project. Crop-quality filtering adds +0.0173.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9"/>
          <p:cNvSpPr txBox="1"/>
          <p:nvPr/>
        </p:nvSpPr>
        <p:spPr>
          <a:xfrm>
            <a:off x="425198" y="4855464"/>
            <a:ext cx="622021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Cross-Dataset Generalization and Robustness of Deepfake Detection</a:t>
            </a:r>
            <a:endParaRPr sz="1100"/>
          </a:p>
        </p:txBody>
      </p:sp>
      <p:sp>
        <p:nvSpPr>
          <p:cNvPr id="569" name="Google Shape;569;p39"/>
          <p:cNvSpPr txBox="1"/>
          <p:nvPr/>
        </p:nvSpPr>
        <p:spPr>
          <a:xfrm>
            <a:off x="7758693" y="4855464"/>
            <a:ext cx="9601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15 / 19</a:t>
            </a:r>
            <a:endParaRPr sz="1100"/>
          </a:p>
        </p:txBody>
      </p:sp>
      <p:sp>
        <p:nvSpPr>
          <p:cNvPr id="570" name="Google Shape;570;p39"/>
          <p:cNvSpPr txBox="1"/>
          <p:nvPr/>
        </p:nvSpPr>
        <p:spPr>
          <a:xfrm>
            <a:off x="425198" y="315468"/>
            <a:ext cx="829361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RESULTS &amp; DISCUSSION</a:t>
            </a:r>
            <a:endParaRPr sz="1100"/>
          </a:p>
        </p:txBody>
      </p:sp>
      <p:sp>
        <p:nvSpPr>
          <p:cNvPr id="571" name="Google Shape;571;p39"/>
          <p:cNvSpPr txBox="1"/>
          <p:nvPr/>
        </p:nvSpPr>
        <p:spPr>
          <a:xfrm>
            <a:off x="425198" y="521208"/>
            <a:ext cx="8293619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Architectural extensions and data scaling</a:t>
            </a:r>
            <a:endParaRPr sz="1100"/>
          </a:p>
        </p:txBody>
      </p:sp>
      <p:sp>
        <p:nvSpPr>
          <p:cNvPr id="572" name="Google Shape;572;p39"/>
          <p:cNvSpPr txBox="1"/>
          <p:nvPr/>
        </p:nvSpPr>
        <p:spPr>
          <a:xfrm>
            <a:off x="425198" y="932688"/>
            <a:ext cx="829361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Augmentation is a closed route, so the remaining levers act on the architecture, the objective, or the data budget.</a:t>
            </a:r>
            <a:endParaRPr sz="1100"/>
          </a:p>
        </p:txBody>
      </p:sp>
      <p:graphicFrame>
        <p:nvGraphicFramePr>
          <p:cNvPr id="573" name="Google Shape;573;p39"/>
          <p:cNvGraphicFramePr/>
          <p:nvPr/>
        </p:nvGraphicFramePr>
        <p:xfrm>
          <a:off x="425198" y="1220723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{E10E58A4-950C-4695-85A7-76B431A150F6}</a:tableStyleId>
              </a:tblPr>
              <a:tblGrid>
                <a:gridCol w="216725"/>
                <a:gridCol w="1896400"/>
                <a:gridCol w="571925"/>
                <a:gridCol w="541825"/>
                <a:gridCol w="493650"/>
                <a:gridCol w="493650"/>
                <a:gridCol w="517725"/>
              </a:tblGrid>
              <a:tr h="24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 imgs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Celeb-DF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FF++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DFDC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2E6F9E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Leave-one-out reference (Table I)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60 000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0.7650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0.8559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0.7700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0.7970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 diversity-balanced frame budget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18 600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0.7833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0.8384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0.7748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0.7988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 + dual-stream RGB and DCT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18 600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2E6F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0.8143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2E6F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0.8788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0.7491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2E6F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0.8141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EDF5FB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 + domain-adversarial training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18 600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0.7394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0.8665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0.6980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C964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0.7680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AF0EB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 + Grad-CAM spatial regulariser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18 600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0.7853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0.8570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0.7362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C964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0.7928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AF0EB"/>
                    </a:solidFill>
                  </a:tcPr>
                </a:tc>
              </a:tr>
            </a:tbl>
          </a:graphicData>
        </a:graphic>
      </p:graphicFrame>
      <p:sp>
        <p:nvSpPr>
          <p:cNvPr id="574" name="Google Shape;574;p39"/>
          <p:cNvSpPr/>
          <p:nvPr/>
        </p:nvSpPr>
        <p:spPr>
          <a:xfrm>
            <a:off x="425198" y="2592324"/>
            <a:ext cx="219457" cy="219456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/>
          </a:p>
        </p:txBody>
      </p:sp>
      <p:sp>
        <p:nvSpPr>
          <p:cNvPr id="575" name="Google Shape;575;p39"/>
          <p:cNvSpPr txBox="1"/>
          <p:nvPr/>
        </p:nvSpPr>
        <p:spPr>
          <a:xfrm>
            <a:off x="726951" y="2578608"/>
            <a:ext cx="4430286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Frequency stream works — the one lever that moved</a:t>
            </a:r>
            <a:endParaRPr sz="1100"/>
          </a:p>
        </p:txBody>
      </p:sp>
      <p:sp>
        <p:nvSpPr>
          <p:cNvPr id="576" name="Google Shape;576;p39"/>
          <p:cNvSpPr txBox="1"/>
          <p:nvPr/>
        </p:nvSpPr>
        <p:spPr>
          <a:xfrm>
            <a:off x="726951" y="2770632"/>
            <a:ext cx="4430286" cy="50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A second stream on a learnable DCT decomposition of the same crop raises transfer by a mean of +0.015 and reaches 0.8788 on FF++ — the highest cross-corpus figure anywhere in this study, from ONE model rather than the four-checkpoint ensemble it beats. It costs only 139→153 s per epoch.</a:t>
            </a:r>
            <a:endParaRPr sz="1100"/>
          </a:p>
        </p:txBody>
      </p:sp>
      <p:sp>
        <p:nvSpPr>
          <p:cNvPr id="577" name="Google Shape;577;p39"/>
          <p:cNvSpPr/>
          <p:nvPr/>
        </p:nvSpPr>
        <p:spPr>
          <a:xfrm>
            <a:off x="425198" y="3291840"/>
            <a:ext cx="219457" cy="219456"/>
          </a:xfrm>
          <a:prstGeom prst="ellipse">
            <a:avLst/>
          </a:prstGeom>
          <a:solidFill>
            <a:srgbClr val="C9644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100"/>
          </a:p>
        </p:txBody>
      </p:sp>
      <p:sp>
        <p:nvSpPr>
          <p:cNvPr id="578" name="Google Shape;578;p39"/>
          <p:cNvSpPr txBox="1"/>
          <p:nvPr/>
        </p:nvSpPr>
        <p:spPr>
          <a:xfrm>
            <a:off x="726951" y="3278124"/>
            <a:ext cx="4430286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Domain-adversarial training is null — it converged and still lost</a:t>
            </a:r>
            <a:endParaRPr sz="1100"/>
          </a:p>
        </p:txBody>
      </p:sp>
      <p:sp>
        <p:nvSpPr>
          <p:cNvPr id="579" name="Google Shape;579;p39"/>
          <p:cNvSpPr txBox="1"/>
          <p:nvPr/>
        </p:nvSpPr>
        <p:spPr>
          <a:xfrm>
            <a:off x="726951" y="3470148"/>
            <a:ext cx="4430286" cy="50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The source classifier was driven to chance (objective ≈ ln 2), which is its stated goal. Transfer still fell by a mean of −0.031. What separates Celeb-DF from DFDC is not a nuisance factor to be removed — it is part of what the detector was using.</a:t>
            </a:r>
            <a:endParaRPr sz="1100"/>
          </a:p>
        </p:txBody>
      </p:sp>
      <p:sp>
        <p:nvSpPr>
          <p:cNvPr id="580" name="Google Shape;580;p39"/>
          <p:cNvSpPr/>
          <p:nvPr/>
        </p:nvSpPr>
        <p:spPr>
          <a:xfrm>
            <a:off x="425198" y="3991356"/>
            <a:ext cx="219457" cy="219456"/>
          </a:xfrm>
          <a:prstGeom prst="ellipse">
            <a:avLst/>
          </a:prstGeom>
          <a:solidFill>
            <a:srgbClr val="C9644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100"/>
          </a:p>
        </p:txBody>
      </p:sp>
      <p:sp>
        <p:nvSpPr>
          <p:cNvPr id="581" name="Google Shape;581;p39"/>
          <p:cNvSpPr txBox="1"/>
          <p:nvPr/>
        </p:nvSpPr>
        <p:spPr>
          <a:xfrm>
            <a:off x="726951" y="3977640"/>
            <a:ext cx="4430286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Grad-CAM supervision is null at −0.006</a:t>
            </a:r>
            <a:endParaRPr sz="1100"/>
          </a:p>
        </p:txBody>
      </p:sp>
      <p:sp>
        <p:nvSpPr>
          <p:cNvPr id="582" name="Google Shape;582;p39"/>
          <p:cNvSpPr txBox="1"/>
          <p:nvPr/>
        </p:nvSpPr>
        <p:spPr>
          <a:xfrm>
            <a:off x="726951" y="4169664"/>
            <a:ext cx="4430286" cy="50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The penalty dominated the objective (0.42 vs 0.02) and the model still never matched the expert's map. It constrains border energy but leaves concentration free — so attention returns to the face while the map stays over-concentrated.</a:t>
            </a:r>
            <a:endParaRPr sz="1100"/>
          </a:p>
        </p:txBody>
      </p:sp>
      <p:sp>
        <p:nvSpPr>
          <p:cNvPr id="583" name="Google Shape;583;p39"/>
          <p:cNvSpPr txBox="1"/>
          <p:nvPr/>
        </p:nvSpPr>
        <p:spPr>
          <a:xfrm>
            <a:off x="5308114" y="1193291"/>
            <a:ext cx="3410703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THE CLEANEST RESULT IN THE REPORT</a:t>
            </a:r>
            <a:endParaRPr sz="1100"/>
          </a:p>
        </p:txBody>
      </p:sp>
      <p:pic>
        <p:nvPicPr>
          <p:cNvPr descr="scaling.png" id="584" name="Google Shape;58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3464" y="1412747"/>
            <a:ext cx="3279989" cy="1961387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39"/>
          <p:cNvSpPr/>
          <p:nvPr/>
        </p:nvSpPr>
        <p:spPr>
          <a:xfrm>
            <a:off x="5308114" y="3456431"/>
            <a:ext cx="3410703" cy="1261872"/>
          </a:xfrm>
          <a:prstGeom prst="roundRect">
            <a:avLst>
              <a:gd fmla="val 5978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9"/>
          <p:cNvSpPr txBox="1"/>
          <p:nvPr/>
        </p:nvSpPr>
        <p:spPr>
          <a:xfrm>
            <a:off x="5472706" y="3579876"/>
            <a:ext cx="308151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Identity and scene diversity is the binding constraint — not raw frame count</a:t>
            </a:r>
            <a:endParaRPr sz="1100"/>
          </a:p>
        </p:txBody>
      </p:sp>
      <p:sp>
        <p:nvSpPr>
          <p:cNvPr id="587" name="Google Shape;587;p39"/>
          <p:cNvSpPr txBox="1"/>
          <p:nvPr/>
        </p:nvSpPr>
        <p:spPr>
          <a:xfrm>
            <a:off x="5472706" y="3881628"/>
            <a:ext cx="145846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2E6F9E"/>
                </a:solidFill>
                <a:latin typeface="Cambria"/>
                <a:ea typeface="Cambria"/>
                <a:cs typeface="Cambria"/>
                <a:sym typeface="Cambria"/>
              </a:rPr>
              <a:t>+0.280 / +0.305</a:t>
            </a:r>
            <a:endParaRPr sz="1100"/>
          </a:p>
        </p:txBody>
      </p:sp>
      <p:sp>
        <p:nvSpPr>
          <p:cNvPr id="588" name="Google Shape;588;p39"/>
          <p:cNvSpPr txBox="1"/>
          <p:nvPr/>
        </p:nvSpPr>
        <p:spPr>
          <a:xfrm>
            <a:off x="5472706" y="4087368"/>
            <a:ext cx="1458462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20× more training VIDEOS at a fixed frame budget — and both curves still climbing</a:t>
            </a:r>
            <a:endParaRPr sz="1100"/>
          </a:p>
        </p:txBody>
      </p:sp>
      <p:sp>
        <p:nvSpPr>
          <p:cNvPr id="589" name="Google Shape;589;p39"/>
          <p:cNvSpPr txBox="1"/>
          <p:nvPr/>
        </p:nvSpPr>
        <p:spPr>
          <a:xfrm>
            <a:off x="7095761" y="3881628"/>
            <a:ext cx="145846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C96442"/>
                </a:solidFill>
                <a:latin typeface="Cambria"/>
                <a:ea typeface="Cambria"/>
                <a:cs typeface="Cambria"/>
                <a:sym typeface="Cambria"/>
              </a:rPr>
              <a:t>+0.010 / −0.041</a:t>
            </a:r>
            <a:endParaRPr sz="1100"/>
          </a:p>
        </p:txBody>
      </p:sp>
      <p:sp>
        <p:nvSpPr>
          <p:cNvPr id="590" name="Google Shape;590;p39"/>
          <p:cNvSpPr txBox="1"/>
          <p:nvPr/>
        </p:nvSpPr>
        <p:spPr>
          <a:xfrm>
            <a:off x="7095761" y="4087368"/>
            <a:ext cx="1458462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a comparable increase in total images spent on more FRAMES per video</a:t>
            </a:r>
            <a:endParaRPr sz="1100"/>
          </a:p>
        </p:txBody>
      </p:sp>
      <p:sp>
        <p:nvSpPr>
          <p:cNvPr id="591" name="Google Shape;591;p39"/>
          <p:cNvSpPr txBox="1"/>
          <p:nvPr/>
        </p:nvSpPr>
        <p:spPr>
          <a:xfrm>
            <a:off x="425198" y="4814316"/>
            <a:ext cx="829361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Ten frames of one thousand people teach generalization. </a:t>
            </a:r>
            <a:r>
              <a:rPr b="0" i="0" lang="en" sz="10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One thousand frames of ten people do not.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0"/>
          <p:cNvSpPr txBox="1"/>
          <p:nvPr/>
        </p:nvSpPr>
        <p:spPr>
          <a:xfrm>
            <a:off x="425198" y="4855464"/>
            <a:ext cx="6220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Cross-Dataset Generalization and Robustness of Deepfake Detection</a:t>
            </a:r>
            <a:endParaRPr sz="1100"/>
          </a:p>
        </p:txBody>
      </p:sp>
      <p:sp>
        <p:nvSpPr>
          <p:cNvPr id="598" name="Google Shape;598;p40"/>
          <p:cNvSpPr txBox="1"/>
          <p:nvPr/>
        </p:nvSpPr>
        <p:spPr>
          <a:xfrm>
            <a:off x="7758693" y="4855464"/>
            <a:ext cx="960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16 / 19</a:t>
            </a:r>
            <a:endParaRPr sz="1100"/>
          </a:p>
        </p:txBody>
      </p:sp>
      <p:sp>
        <p:nvSpPr>
          <p:cNvPr id="599" name="Google Shape;599;p40"/>
          <p:cNvSpPr txBox="1"/>
          <p:nvPr/>
        </p:nvSpPr>
        <p:spPr>
          <a:xfrm>
            <a:off x="425198" y="315468"/>
            <a:ext cx="8293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RESULTS &amp; DISCUSSION</a:t>
            </a:r>
            <a:endParaRPr sz="1100"/>
          </a:p>
        </p:txBody>
      </p:sp>
      <p:sp>
        <p:nvSpPr>
          <p:cNvPr id="600" name="Google Shape;600;p40"/>
          <p:cNvSpPr txBox="1"/>
          <p:nvPr/>
        </p:nvSpPr>
        <p:spPr>
          <a:xfrm>
            <a:off x="425198" y="521208"/>
            <a:ext cx="82935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Comparison with published work</a:t>
            </a:r>
            <a:endParaRPr sz="1100"/>
          </a:p>
        </p:txBody>
      </p:sp>
      <p:graphicFrame>
        <p:nvGraphicFramePr>
          <p:cNvPr id="601" name="Google Shape;601;p40"/>
          <p:cNvGraphicFramePr/>
          <p:nvPr/>
        </p:nvGraphicFramePr>
        <p:xfrm>
          <a:off x="425198" y="973836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{E10E58A4-950C-4695-85A7-76B431A150F6}</a:tableStyleId>
              </a:tblPr>
              <a:tblGrid>
                <a:gridCol w="1035550"/>
                <a:gridCol w="1600400"/>
                <a:gridCol w="451875"/>
                <a:gridCol w="665250"/>
                <a:gridCol w="702900"/>
                <a:gridCol w="721725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Backbone / method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Params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FF++ in-domain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Celeb-DF in-domain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2E6F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FF++ → Celeb-DF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2E6F9E"/>
                    </a:solidFill>
                  </a:tcPr>
                </a:tc>
              </a:tr>
              <a:tr h="202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Rössler et al. [2]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XceptionNet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22.9 M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0.957 ᵃ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</a:tr>
              <a:tr h="202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 et al. [1]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XceptionNet (c23)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22.9 M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0.653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</a:tr>
              <a:tr h="202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Qian et al. [5]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F³-Net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46.7 M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0.933 ᵇ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</a:tr>
              <a:tr h="202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Zhao et al. [18]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Multi-attentional EfficientNet-B4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19.0 M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0.993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0.674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</a:tr>
              <a:tr h="202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Haliassos et al. [6]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LipForensics (temporal)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0.824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</a:tr>
              <a:tr h="202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Shiohara &amp; Yamasaki [7]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Self-blended images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19.0 M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0.932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</a:tr>
              <a:tr h="202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 et al. [8]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XceptionNet, unified protocol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22.9 M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0.737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</a:tr>
              <a:tr h="202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This work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EfficientNet-B0, single-source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6FA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2E6F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5.3 M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2E6F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0.9998 ᶜ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2E6F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0.9942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2E6F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0.7302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EDF5FB"/>
                    </a:solidFill>
                  </a:tcPr>
                </a:tc>
              </a:tr>
              <a:tr h="202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This work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EfficientNet-B0, leave-one-out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2E6F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5.3 M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0.8559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0.7650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 u="none" cap="none" strike="noStrike">
                          <a:solidFill>
                            <a:srgbClr val="1C2B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/>
                    </a:p>
                  </a:txBody>
                  <a:tcPr marT="13725" marB="13725" marR="61725" marL="61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2" name="Google Shape;602;p40"/>
          <p:cNvSpPr txBox="1"/>
          <p:nvPr/>
        </p:nvSpPr>
        <p:spPr>
          <a:xfrm>
            <a:off x="425198" y="3190875"/>
            <a:ext cx="5177700" cy="14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555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ᵃ accuracy at c23 (high quality), not AUC. ᵇ c40 (low quality). ᶜ our FF++ copy holds one manipulation method, so this is reported for completeness rather than as a competitive claim.</a:t>
            </a:r>
            <a:endParaRPr b="0" i="1" sz="555">
              <a:solidFill>
                <a:srgbClr val="6E82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40"/>
          <p:cNvSpPr/>
          <p:nvPr/>
        </p:nvSpPr>
        <p:spPr>
          <a:xfrm>
            <a:off x="425198" y="3390900"/>
            <a:ext cx="233100" cy="233100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40"/>
          <p:cNvSpPr txBox="1"/>
          <p:nvPr/>
        </p:nvSpPr>
        <p:spPr>
          <a:xfrm>
            <a:off x="762000" y="3371850"/>
            <a:ext cx="4838700" cy="14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In-domain is not a capacity problem</a:t>
            </a:r>
            <a:endParaRPr b="1" i="0" sz="900">
              <a:solidFill>
                <a:srgbClr val="1C2B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40"/>
          <p:cNvSpPr txBox="1"/>
          <p:nvPr/>
        </p:nvSpPr>
        <p:spPr>
          <a:xfrm>
            <a:off x="762000" y="3514725"/>
            <a:ext cx="4838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40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Our in-domain results match published Xception and EfficientNet-B4 numbers on a backbone roughly a quarter of their size.</a:t>
            </a:r>
            <a:endParaRPr b="0" i="0" sz="740">
              <a:solidFill>
                <a:srgbClr val="6E82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40"/>
          <p:cNvSpPr/>
          <p:nvPr/>
        </p:nvSpPr>
        <p:spPr>
          <a:xfrm>
            <a:off x="425198" y="3819525"/>
            <a:ext cx="233100" cy="233100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i="0"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40"/>
          <p:cNvSpPr txBox="1"/>
          <p:nvPr/>
        </p:nvSpPr>
        <p:spPr>
          <a:xfrm>
            <a:off x="762000" y="3800475"/>
            <a:ext cx="4838700" cy="14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Our baseline sits squarely in the standard-CNN band</a:t>
            </a:r>
            <a:endParaRPr b="1" i="0" sz="900">
              <a:solidFill>
                <a:srgbClr val="1C2B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40"/>
          <p:cNvSpPr txBox="1"/>
          <p:nvPr/>
        </p:nvSpPr>
        <p:spPr>
          <a:xfrm>
            <a:off x="762000" y="3943350"/>
            <a:ext cx="4838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0.7302 is consistent with 0.653 for XceptionNet [1] and 0.737 under the unified protocol of [8]. Specialized methods remain ahead — temporal cues at 0.824, self-blending at 0.932. That gap defines the frontier we did not attempt to cross.</a:t>
            </a:r>
            <a:endParaRPr b="0" i="0" sz="800">
              <a:solidFill>
                <a:srgbClr val="6E82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0"/>
          <p:cNvSpPr/>
          <p:nvPr/>
        </p:nvSpPr>
        <p:spPr>
          <a:xfrm>
            <a:off x="425198" y="4391025"/>
            <a:ext cx="233100" cy="233100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i="0"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40"/>
          <p:cNvSpPr txBox="1"/>
          <p:nvPr/>
        </p:nvSpPr>
        <p:spPr>
          <a:xfrm>
            <a:off x="762000" y="4371975"/>
            <a:ext cx="4838700" cy="14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Three of our evaluations have no counterpart above</a:t>
            </a:r>
            <a:endParaRPr b="1" i="0" sz="900">
              <a:solidFill>
                <a:srgbClr val="1C2B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40"/>
          <p:cNvSpPr txBox="1"/>
          <p:nvPr/>
        </p:nvSpPr>
        <p:spPr>
          <a:xfrm>
            <a:off x="762000" y="4514850"/>
            <a:ext cx="48387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The three-way leave-one-out protocol, robustness of transfer on identical images, and the seen-versus-unseen corruption split with bootstrap intervals are rarely reported at all.</a:t>
            </a:r>
            <a:endParaRPr b="0" i="0" sz="800">
              <a:solidFill>
                <a:srgbClr val="6E82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40"/>
          <p:cNvSpPr txBox="1"/>
          <p:nvPr/>
        </p:nvSpPr>
        <p:spPr>
          <a:xfrm>
            <a:off x="5760744" y="946404"/>
            <a:ext cx="2958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C96442"/>
                </a:solidFill>
                <a:latin typeface="Calibri"/>
                <a:ea typeface="Calibri"/>
                <a:cs typeface="Calibri"/>
                <a:sym typeface="Calibri"/>
              </a:rPr>
              <a:t>A PROBE BEYOND THE PUBLISHED TABLE</a:t>
            </a:r>
            <a:endParaRPr sz="1100"/>
          </a:p>
        </p:txBody>
      </p:sp>
      <p:sp>
        <p:nvSpPr>
          <p:cNvPr id="613" name="Google Shape;613;p40"/>
          <p:cNvSpPr txBox="1"/>
          <p:nvPr/>
        </p:nvSpPr>
        <p:spPr>
          <a:xfrm>
            <a:off x="5760744" y="1152144"/>
            <a:ext cx="29580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Latent diffusion: the starkest result</a:t>
            </a:r>
            <a:endParaRPr sz="1100"/>
          </a:p>
        </p:txBody>
      </p:sp>
      <p:sp>
        <p:nvSpPr>
          <p:cNvPr id="614" name="Google Shape;614;p40"/>
          <p:cNvSpPr txBox="1"/>
          <p:nvPr/>
        </p:nvSpPr>
        <p:spPr>
          <a:xfrm>
            <a:off x="5760744" y="1440179"/>
            <a:ext cx="2958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Every corpus in this study predates latent diffusion. We edited real Celeb-DF test crops with a diffusion inpainting model, so each forgery is the diffusion edit of its own real counterpart.</a:t>
            </a:r>
            <a:endParaRPr sz="1100"/>
          </a:p>
        </p:txBody>
      </p:sp>
      <p:pic>
        <p:nvPicPr>
          <p:cNvPr descr="diffusion.png" id="615" name="Google Shape;61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0744" y="1866298"/>
            <a:ext cx="2958059" cy="1602929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40"/>
          <p:cNvSpPr/>
          <p:nvPr/>
        </p:nvSpPr>
        <p:spPr>
          <a:xfrm>
            <a:off x="5760744" y="3552444"/>
            <a:ext cx="2958000" cy="1179600"/>
          </a:xfrm>
          <a:prstGeom prst="roundRect">
            <a:avLst>
              <a:gd fmla="val 6395" name="adj"/>
            </a:avLst>
          </a:prstGeom>
          <a:solidFill>
            <a:srgbClr val="FAF0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40"/>
          <p:cNvSpPr txBox="1"/>
          <p:nvPr/>
        </p:nvSpPr>
        <p:spPr>
          <a:xfrm>
            <a:off x="5925336" y="3675887"/>
            <a:ext cx="2628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C96442"/>
                </a:solidFill>
                <a:latin typeface="Calibri"/>
                <a:ea typeface="Calibri"/>
                <a:cs typeface="Calibri"/>
                <a:sym typeface="Calibri"/>
              </a:rPr>
              <a:t>Four of nine checkpoints are INVERTED</a:t>
            </a:r>
            <a:endParaRPr sz="1100"/>
          </a:p>
        </p:txBody>
      </p:sp>
      <p:sp>
        <p:nvSpPr>
          <p:cNvPr id="618" name="Google Shape;618;p40"/>
          <p:cNvSpPr txBox="1"/>
          <p:nvPr/>
        </p:nvSpPr>
        <p:spPr>
          <a:xfrm>
            <a:off x="5925336" y="3895344"/>
            <a:ext cx="26289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They do not merely fail — they rank the diffusion forgery as </a:t>
            </a:r>
            <a:r>
              <a:rPr b="1" i="0" lang="en" sz="8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more authentic than the real photograph it was made from</a:t>
            </a: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. A diffusion decode is smooth; our corpora's forgeries are GAN and graphics composites that ADD high-frequency artefacts. A generator that removes them inverts the detector.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384E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41"/>
          <p:cNvSpPr txBox="1"/>
          <p:nvPr/>
        </p:nvSpPr>
        <p:spPr>
          <a:xfrm>
            <a:off x="425198" y="356616"/>
            <a:ext cx="8293619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1100"/>
          </a:p>
        </p:txBody>
      </p:sp>
      <p:sp>
        <p:nvSpPr>
          <p:cNvPr id="625" name="Google Shape;625;p41"/>
          <p:cNvSpPr txBox="1"/>
          <p:nvPr/>
        </p:nvSpPr>
        <p:spPr>
          <a:xfrm>
            <a:off x="425198" y="589788"/>
            <a:ext cx="8293619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survives contact with unseen data — and what does not</a:t>
            </a:r>
            <a:endParaRPr sz="1100"/>
          </a:p>
        </p:txBody>
      </p:sp>
      <p:sp>
        <p:nvSpPr>
          <p:cNvPr id="626" name="Google Shape;626;p41"/>
          <p:cNvSpPr/>
          <p:nvPr/>
        </p:nvSpPr>
        <p:spPr>
          <a:xfrm>
            <a:off x="425198" y="1110996"/>
            <a:ext cx="1939673" cy="864108"/>
          </a:xfrm>
          <a:prstGeom prst="roundRect">
            <a:avLst>
              <a:gd fmla="val 7936" name="adj"/>
            </a:avLst>
          </a:prstGeom>
          <a:solidFill>
            <a:srgbClr val="1E4C6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41"/>
          <p:cNvSpPr txBox="1"/>
          <p:nvPr/>
        </p:nvSpPr>
        <p:spPr>
          <a:xfrm>
            <a:off x="534926" y="1220724"/>
            <a:ext cx="17202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0.229</a:t>
            </a:r>
            <a:endParaRPr sz="1100"/>
          </a:p>
        </p:txBody>
      </p:sp>
      <p:sp>
        <p:nvSpPr>
          <p:cNvPr id="628" name="Google Shape;628;p41"/>
          <p:cNvSpPr txBox="1"/>
          <p:nvPr/>
        </p:nvSpPr>
        <p:spPr>
          <a:xfrm>
            <a:off x="534926" y="1604772"/>
            <a:ext cx="1720216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  <a:t>generalization gap, in-domain</a:t>
            </a:r>
            <a:br>
              <a:rPr b="0" i="0" lang="en" sz="8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  <a:t>to an unseen corpus</a:t>
            </a:r>
            <a:endParaRPr sz="1100"/>
          </a:p>
        </p:txBody>
      </p:sp>
      <p:sp>
        <p:nvSpPr>
          <p:cNvPr id="629" name="Google Shape;629;p41"/>
          <p:cNvSpPr/>
          <p:nvPr/>
        </p:nvSpPr>
        <p:spPr>
          <a:xfrm>
            <a:off x="2543179" y="1110996"/>
            <a:ext cx="1939673" cy="864108"/>
          </a:xfrm>
          <a:prstGeom prst="roundRect">
            <a:avLst>
              <a:gd fmla="val 7936" name="adj"/>
            </a:avLst>
          </a:prstGeom>
          <a:solidFill>
            <a:srgbClr val="1E4C6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41"/>
          <p:cNvSpPr txBox="1"/>
          <p:nvPr/>
        </p:nvSpPr>
        <p:spPr>
          <a:xfrm>
            <a:off x="2652908" y="1220724"/>
            <a:ext cx="17202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13.3%</a:t>
            </a:r>
            <a:endParaRPr sz="1100"/>
          </a:p>
        </p:txBody>
      </p:sp>
      <p:sp>
        <p:nvSpPr>
          <p:cNvPr id="631" name="Google Shape;631;p41"/>
          <p:cNvSpPr txBox="1"/>
          <p:nvPr/>
        </p:nvSpPr>
        <p:spPr>
          <a:xfrm>
            <a:off x="2652908" y="1604772"/>
            <a:ext cx="1720216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  <a:t>of above-chance signal left after</a:t>
            </a:r>
            <a:br>
              <a:rPr b="0" i="0" lang="en" sz="8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  <a:t>one round of recompression</a:t>
            </a:r>
            <a:endParaRPr sz="1100"/>
          </a:p>
        </p:txBody>
      </p:sp>
      <p:sp>
        <p:nvSpPr>
          <p:cNvPr id="632" name="Google Shape;632;p41"/>
          <p:cNvSpPr/>
          <p:nvPr/>
        </p:nvSpPr>
        <p:spPr>
          <a:xfrm>
            <a:off x="4661161" y="1110996"/>
            <a:ext cx="1939673" cy="864108"/>
          </a:xfrm>
          <a:prstGeom prst="roundRect">
            <a:avLst>
              <a:gd fmla="val 7936" name="adj"/>
            </a:avLst>
          </a:prstGeom>
          <a:solidFill>
            <a:srgbClr val="1E4C6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41"/>
          <p:cNvSpPr txBox="1"/>
          <p:nvPr/>
        </p:nvSpPr>
        <p:spPr>
          <a:xfrm>
            <a:off x="4770890" y="1220724"/>
            <a:ext cx="17202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 / 6</a:t>
            </a:r>
            <a:endParaRPr sz="1100"/>
          </a:p>
        </p:txBody>
      </p:sp>
      <p:sp>
        <p:nvSpPr>
          <p:cNvPr id="634" name="Google Shape;634;p41"/>
          <p:cNvSpPr txBox="1"/>
          <p:nvPr/>
        </p:nvSpPr>
        <p:spPr>
          <a:xfrm>
            <a:off x="4770890" y="1604772"/>
            <a:ext cx="1720216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  <a:t>unseen-corruption comparisons</a:t>
            </a:r>
            <a:br>
              <a:rPr b="0" i="0" lang="en" sz="8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  <a:t>reaching significance</a:t>
            </a:r>
            <a:endParaRPr sz="1100"/>
          </a:p>
        </p:txBody>
      </p:sp>
      <p:sp>
        <p:nvSpPr>
          <p:cNvPr id="635" name="Google Shape;635;p41"/>
          <p:cNvSpPr/>
          <p:nvPr/>
        </p:nvSpPr>
        <p:spPr>
          <a:xfrm>
            <a:off x="6779144" y="1110996"/>
            <a:ext cx="1939673" cy="864108"/>
          </a:xfrm>
          <a:prstGeom prst="roundRect">
            <a:avLst>
              <a:gd fmla="val 7936" name="adj"/>
            </a:avLst>
          </a:prstGeom>
          <a:solidFill>
            <a:srgbClr val="1E4C6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41"/>
          <p:cNvSpPr txBox="1"/>
          <p:nvPr/>
        </p:nvSpPr>
        <p:spPr>
          <a:xfrm>
            <a:off x="6888872" y="1220724"/>
            <a:ext cx="17202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A9CFE8"/>
                </a:solidFill>
                <a:latin typeface="Cambria"/>
                <a:ea typeface="Cambria"/>
                <a:cs typeface="Cambria"/>
                <a:sym typeface="Cambria"/>
              </a:rPr>
              <a:t>+0.280</a:t>
            </a:r>
            <a:endParaRPr sz="1100"/>
          </a:p>
        </p:txBody>
      </p:sp>
      <p:sp>
        <p:nvSpPr>
          <p:cNvPr id="637" name="Google Shape;637;p41"/>
          <p:cNvSpPr txBox="1"/>
          <p:nvPr/>
        </p:nvSpPr>
        <p:spPr>
          <a:xfrm>
            <a:off x="6888872" y="1604772"/>
            <a:ext cx="1720216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  <a:t>transfer gain from 20× more</a:t>
            </a:r>
            <a:br>
              <a:rPr b="0" i="0" lang="en" sz="8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  <a:t>training videos — still climbing</a:t>
            </a:r>
            <a:endParaRPr sz="1100"/>
          </a:p>
        </p:txBody>
      </p:sp>
      <p:sp>
        <p:nvSpPr>
          <p:cNvPr id="638" name="Google Shape;638;p41"/>
          <p:cNvSpPr txBox="1"/>
          <p:nvPr/>
        </p:nvSpPr>
        <p:spPr>
          <a:xfrm>
            <a:off x="425198" y="2167128"/>
            <a:ext cx="4043939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  <a:t>Generalization</a:t>
            </a:r>
            <a:endParaRPr sz="1100"/>
          </a:p>
        </p:txBody>
      </p:sp>
      <p:sp>
        <p:nvSpPr>
          <p:cNvPr id="639" name="Google Shape;639;p41"/>
          <p:cNvSpPr txBox="1"/>
          <p:nvPr/>
        </p:nvSpPr>
        <p:spPr>
          <a:xfrm>
            <a:off x="425198" y="2372868"/>
            <a:ext cx="4043939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In-domain detection is close to solved at 0.9942 and 0.9998. Against a genuinely unseen corpus the same architecture falls to 0.765–0.856. Multi-source training narrows the gap in three of three directions without closing it.</a:t>
            </a:r>
            <a:endParaRPr sz="1100"/>
          </a:p>
        </p:txBody>
      </p:sp>
      <p:sp>
        <p:nvSpPr>
          <p:cNvPr id="640" name="Google Shape;640;p41"/>
          <p:cNvSpPr txBox="1"/>
          <p:nvPr/>
        </p:nvSpPr>
        <p:spPr>
          <a:xfrm>
            <a:off x="4674877" y="2167128"/>
            <a:ext cx="4043939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  <a:t>Explainability</a:t>
            </a:r>
            <a:endParaRPr sz="1100"/>
          </a:p>
        </p:txBody>
      </p:sp>
      <p:sp>
        <p:nvSpPr>
          <p:cNvPr id="641" name="Google Shape;641;p41"/>
          <p:cNvSpPr txBox="1"/>
          <p:nvPr/>
        </p:nvSpPr>
        <p:spPr>
          <a:xfrm>
            <a:off x="4674877" y="2372868"/>
            <a:ext cx="4043939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 of domain, attention moves off the face by 27–39% in border energy while becoming MORE concentrated. The model is confidently attending to the wrong region, and its confidence carries no warning of failure.</a:t>
            </a:r>
            <a:endParaRPr sz="1100"/>
          </a:p>
        </p:txBody>
      </p:sp>
      <p:sp>
        <p:nvSpPr>
          <p:cNvPr id="642" name="Google Shape;642;p41"/>
          <p:cNvSpPr txBox="1"/>
          <p:nvPr/>
        </p:nvSpPr>
        <p:spPr>
          <a:xfrm>
            <a:off x="425198" y="3058668"/>
            <a:ext cx="4043939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  <a:t>Robustness &amp; statistics</a:t>
            </a:r>
            <a:endParaRPr sz="1100"/>
          </a:p>
        </p:txBody>
      </p:sp>
      <p:sp>
        <p:nvSpPr>
          <p:cNvPr id="643" name="Google Shape;643;p41"/>
          <p:cNvSpPr txBox="1"/>
          <p:nvPr/>
        </p:nvSpPr>
        <p:spPr>
          <a:xfrm>
            <a:off x="425198" y="3264408"/>
            <a:ext cx="4043939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transferred signal is fragile, not merely weaker. Compression-aware training repairs that almost free — but a 2 000-replicate bootstrap shows zero of six unseen comparisons significant. Augmentation transfers by physical mechanism, not by breadth, and widening it costs clean accuracy.</a:t>
            </a:r>
            <a:endParaRPr sz="1100"/>
          </a:p>
        </p:txBody>
      </p:sp>
      <p:sp>
        <p:nvSpPr>
          <p:cNvPr id="644" name="Google Shape;644;p41"/>
          <p:cNvSpPr txBox="1"/>
          <p:nvPr/>
        </p:nvSpPr>
        <p:spPr>
          <a:xfrm>
            <a:off x="4674877" y="3058668"/>
            <a:ext cx="4043939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  <a:t>What actually moved the number</a:t>
            </a:r>
            <a:endParaRPr sz="1100"/>
          </a:p>
        </p:txBody>
      </p:sp>
      <p:sp>
        <p:nvSpPr>
          <p:cNvPr id="645" name="Google Shape;645;p41"/>
          <p:cNvSpPr txBox="1"/>
          <p:nvPr/>
        </p:nvSpPr>
        <p:spPr>
          <a:xfrm>
            <a:off x="4674877" y="3264408"/>
            <a:ext cx="4043939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two largest effects needed no architectural change: rank-averaged ensembling at +0.066, and training-video diversity at +0.280 to +0.305. Of four architectural levers tried, only the frequency stream helped, reaching 0.8788 on FF++.</a:t>
            </a:r>
            <a:endParaRPr sz="1100"/>
          </a:p>
        </p:txBody>
      </p:sp>
      <p:sp>
        <p:nvSpPr>
          <p:cNvPr id="646" name="Google Shape;646;p41"/>
          <p:cNvSpPr/>
          <p:nvPr/>
        </p:nvSpPr>
        <p:spPr>
          <a:xfrm>
            <a:off x="425198" y="4018788"/>
            <a:ext cx="8293619" cy="699516"/>
          </a:xfrm>
          <a:prstGeom prst="roundRect">
            <a:avLst>
              <a:gd fmla="val 9803" name="adj"/>
            </a:avLst>
          </a:prstGeom>
          <a:solidFill>
            <a:srgbClr val="1E4C6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41"/>
          <p:cNvSpPr txBox="1"/>
          <p:nvPr/>
        </p:nvSpPr>
        <p:spPr>
          <a:xfrm>
            <a:off x="617223" y="4128516"/>
            <a:ext cx="7909569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C96442"/>
                </a:solidFill>
                <a:latin typeface="Calibri"/>
                <a:ea typeface="Calibri"/>
                <a:cs typeface="Calibri"/>
                <a:sym typeface="Calibri"/>
              </a:rPr>
              <a:t>THREE LIMITATIONS BOUND ALL OF THIS</a:t>
            </a:r>
            <a:endParaRPr sz="1100"/>
          </a:p>
        </p:txBody>
      </p:sp>
      <p:sp>
        <p:nvSpPr>
          <p:cNvPr id="648" name="Google Shape;648;p41"/>
          <p:cNvSpPr txBox="1"/>
          <p:nvPr/>
        </p:nvSpPr>
        <p:spPr>
          <a:xfrm>
            <a:off x="617223" y="4334256"/>
            <a:ext cx="250850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  <a:t>Our FaceForensics++ copy contains one manipulation method, not four.</a:t>
            </a:r>
            <a:endParaRPr sz="1100"/>
          </a:p>
        </p:txBody>
      </p:sp>
      <p:sp>
        <p:nvSpPr>
          <p:cNvPr id="649" name="Google Shape;649;p41"/>
          <p:cNvSpPr txBox="1"/>
          <p:nvPr/>
        </p:nvSpPr>
        <p:spPr>
          <a:xfrm>
            <a:off x="3317753" y="4334256"/>
            <a:ext cx="250850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  <a:t>At n = 58, every DFDC confidence interval is uninformative.</a:t>
            </a:r>
            <a:endParaRPr sz="1100"/>
          </a:p>
        </p:txBody>
      </p:sp>
      <p:sp>
        <p:nvSpPr>
          <p:cNvPr id="650" name="Google Shape;650;p41"/>
          <p:cNvSpPr txBox="1"/>
          <p:nvPr/>
        </p:nvSpPr>
        <p:spPr>
          <a:xfrm>
            <a:off x="6018285" y="4334256"/>
            <a:ext cx="250850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A9CFE8"/>
                </a:solidFill>
                <a:latin typeface="Calibri"/>
                <a:ea typeface="Calibri"/>
                <a:cs typeface="Calibri"/>
                <a:sym typeface="Calibri"/>
              </a:rPr>
              <a:t>Every conclusion concerns a single convolutional backbone.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2"/>
          <p:cNvSpPr txBox="1"/>
          <p:nvPr/>
        </p:nvSpPr>
        <p:spPr>
          <a:xfrm>
            <a:off x="425198" y="4855464"/>
            <a:ext cx="622021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Cross-Dataset Generalization and Robustness of Deepfake Detection</a:t>
            </a:r>
            <a:endParaRPr sz="1100"/>
          </a:p>
        </p:txBody>
      </p:sp>
      <p:sp>
        <p:nvSpPr>
          <p:cNvPr id="657" name="Google Shape;657;p42"/>
          <p:cNvSpPr txBox="1"/>
          <p:nvPr/>
        </p:nvSpPr>
        <p:spPr>
          <a:xfrm>
            <a:off x="7758693" y="4855464"/>
            <a:ext cx="9601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18 / 19</a:t>
            </a:r>
            <a:endParaRPr sz="1100"/>
          </a:p>
        </p:txBody>
      </p:sp>
      <p:sp>
        <p:nvSpPr>
          <p:cNvPr id="658" name="Google Shape;658;p42"/>
          <p:cNvSpPr txBox="1"/>
          <p:nvPr/>
        </p:nvSpPr>
        <p:spPr>
          <a:xfrm>
            <a:off x="425198" y="315468"/>
            <a:ext cx="829361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sz="1100"/>
          </a:p>
        </p:txBody>
      </p:sp>
      <p:sp>
        <p:nvSpPr>
          <p:cNvPr id="659" name="Google Shape;659;p42"/>
          <p:cNvSpPr txBox="1"/>
          <p:nvPr/>
        </p:nvSpPr>
        <p:spPr>
          <a:xfrm>
            <a:off x="425198" y="521208"/>
            <a:ext cx="8293619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The plan for the semester break and CSE 499B</a:t>
            </a:r>
            <a:endParaRPr sz="1100"/>
          </a:p>
        </p:txBody>
      </p:sp>
      <p:sp>
        <p:nvSpPr>
          <p:cNvPr id="660" name="Google Shape;660;p42"/>
          <p:cNvSpPr txBox="1"/>
          <p:nvPr/>
        </p:nvSpPr>
        <p:spPr>
          <a:xfrm>
            <a:off x="425198" y="932688"/>
            <a:ext cx="829361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We act on what the data identifies as blocking — not on what was merely left untried.</a:t>
            </a:r>
            <a:endParaRPr sz="1100"/>
          </a:p>
        </p:txBody>
      </p:sp>
      <p:sp>
        <p:nvSpPr>
          <p:cNvPr id="661" name="Google Shape;661;p42"/>
          <p:cNvSpPr/>
          <p:nvPr/>
        </p:nvSpPr>
        <p:spPr>
          <a:xfrm>
            <a:off x="425198" y="1220723"/>
            <a:ext cx="4043939" cy="2482596"/>
          </a:xfrm>
          <a:prstGeom prst="roundRect">
            <a:avLst>
              <a:gd fmla="val 3038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42"/>
          <p:cNvSpPr txBox="1"/>
          <p:nvPr/>
        </p:nvSpPr>
        <p:spPr>
          <a:xfrm>
            <a:off x="617223" y="1357883"/>
            <a:ext cx="365988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A9CFE8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1100"/>
          </a:p>
        </p:txBody>
      </p:sp>
      <p:sp>
        <p:nvSpPr>
          <p:cNvPr id="663" name="Google Shape;663;p42"/>
          <p:cNvSpPr txBox="1"/>
          <p:nvPr/>
        </p:nvSpPr>
        <p:spPr>
          <a:xfrm>
            <a:off x="617223" y="1577340"/>
            <a:ext cx="3659889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Replace the two deficient corpora</a:t>
            </a:r>
            <a:endParaRPr sz="1100"/>
          </a:p>
        </p:txBody>
      </p:sp>
      <p:sp>
        <p:nvSpPr>
          <p:cNvPr id="664" name="Google Shape;664;p42"/>
          <p:cNvSpPr txBox="1"/>
          <p:nvPr/>
        </p:nvSpPr>
        <p:spPr>
          <a:xfrm>
            <a:off x="617223" y="1851659"/>
            <a:ext cx="3659889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00" u="none" cap="none" strike="noStrike">
                <a:solidFill>
                  <a:srgbClr val="C96442"/>
                </a:solidFill>
                <a:latin typeface="Calibri"/>
                <a:ea typeface="Calibri"/>
                <a:cs typeface="Calibri"/>
                <a:sym typeface="Calibri"/>
              </a:rPr>
              <a:t>Because the data-scaling study shows video diversity is the binding constraint on transfer — not model capacity, and not augmentation.</a:t>
            </a:r>
            <a:endParaRPr sz="1100"/>
          </a:p>
        </p:txBody>
      </p:sp>
      <p:sp>
        <p:nvSpPr>
          <p:cNvPr id="665" name="Google Shape;665;p42"/>
          <p:cNvSpPr txBox="1"/>
          <p:nvPr/>
        </p:nvSpPr>
        <p:spPr>
          <a:xfrm>
            <a:off x="617223" y="2290572"/>
            <a:ext cx="3659889" cy="1303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0650" lvl="0" marL="11430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A9CFE8"/>
              </a:buClr>
              <a:buSzPts val="900"/>
              <a:buFont typeface="Arial"/>
              <a:buChar char="•"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Ingest the full four-method FaceForensics++ distribution from the official source, removing our single-manipulation limitation</a:t>
            </a:r>
            <a:endParaRPr sz="1100"/>
          </a:p>
          <a:p>
            <a:pPr indent="-120650" lvl="0" marL="114300" marR="0" rtl="0"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  <a:buClr>
                <a:srgbClr val="A9CFE8"/>
              </a:buClr>
              <a:buSzPts val="900"/>
              <a:buFont typeface="Arial"/>
              <a:buChar char="•"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Expand DFDC until its confidence intervals become informative (n = 58 is the reason three of our tables carry no DFDC claim)</a:t>
            </a:r>
            <a:endParaRPr sz="1100"/>
          </a:p>
          <a:p>
            <a:pPr indent="-120650" lvl="0" marL="114300" marR="0" rtl="0"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  <a:buClr>
                <a:srgbClr val="A9CFE8"/>
              </a:buClr>
              <a:buSzPts val="900"/>
              <a:buFont typeface="Arial"/>
              <a:buChar char="•"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Add latent-diffusion material as a TRAINING source, not only as a probe — since no detector we hold survives it, and four of nine are inverted by it</a:t>
            </a:r>
            <a:endParaRPr sz="1100"/>
          </a:p>
        </p:txBody>
      </p:sp>
      <p:sp>
        <p:nvSpPr>
          <p:cNvPr id="666" name="Google Shape;666;p42"/>
          <p:cNvSpPr/>
          <p:nvPr/>
        </p:nvSpPr>
        <p:spPr>
          <a:xfrm>
            <a:off x="4674877" y="1220723"/>
            <a:ext cx="4043939" cy="2482596"/>
          </a:xfrm>
          <a:prstGeom prst="roundRect">
            <a:avLst>
              <a:gd fmla="val 3038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42"/>
          <p:cNvSpPr txBox="1"/>
          <p:nvPr/>
        </p:nvSpPr>
        <p:spPr>
          <a:xfrm>
            <a:off x="4866902" y="1357883"/>
            <a:ext cx="365988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A9CFE8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1100"/>
          </a:p>
        </p:txBody>
      </p:sp>
      <p:sp>
        <p:nvSpPr>
          <p:cNvPr id="668" name="Google Shape;668;p42"/>
          <p:cNvSpPr txBox="1"/>
          <p:nvPr/>
        </p:nvSpPr>
        <p:spPr>
          <a:xfrm>
            <a:off x="4866902" y="1577340"/>
            <a:ext cx="3659889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Develop the frequency direction that works</a:t>
            </a:r>
            <a:endParaRPr sz="1100"/>
          </a:p>
        </p:txBody>
      </p:sp>
      <p:sp>
        <p:nvSpPr>
          <p:cNvPr id="669" name="Google Shape;669;p42"/>
          <p:cNvSpPr txBox="1"/>
          <p:nvPr/>
        </p:nvSpPr>
        <p:spPr>
          <a:xfrm>
            <a:off x="4866902" y="1851659"/>
            <a:ext cx="3659889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00" u="none" cap="none" strike="noStrike">
                <a:solidFill>
                  <a:srgbClr val="C96442"/>
                </a:solidFill>
                <a:latin typeface="Calibri"/>
                <a:ea typeface="Calibri"/>
                <a:cs typeface="Calibri"/>
                <a:sym typeface="Calibri"/>
              </a:rPr>
              <a:t>Of the four architectural levers we tried, the frequency stream is the only one that moved the number — this is no longer a preference between open options.</a:t>
            </a:r>
            <a:endParaRPr sz="1100"/>
          </a:p>
        </p:txBody>
      </p:sp>
      <p:sp>
        <p:nvSpPr>
          <p:cNvPr id="670" name="Google Shape;670;p42"/>
          <p:cNvSpPr txBox="1"/>
          <p:nvPr/>
        </p:nvSpPr>
        <p:spPr>
          <a:xfrm>
            <a:off x="4866902" y="2290572"/>
            <a:ext cx="3659889" cy="1303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0650" lvl="0" marL="11430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A9CFE8"/>
              </a:buClr>
              <a:buSzPts val="900"/>
              <a:buFont typeface="Arial"/>
              <a:buChar char="•"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Extend the dual-stream RGB + DCT network that already reached 0.8788 on FF++, the best cross-corpus figure in this study</a:t>
            </a:r>
            <a:endParaRPr sz="1100"/>
          </a:p>
          <a:p>
            <a:pPr indent="-120650" lvl="0" marL="114300" marR="0" rtl="0"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  <a:buClr>
                <a:srgbClr val="A9CFE8"/>
              </a:buClr>
              <a:buSzPts val="900"/>
              <a:buFont typeface="Arial"/>
              <a:buChar char="•"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Add the temporal cues it does not cover — the literature's strongest transfer results (0.824, 0.932) come from temporal and blending signals</a:t>
            </a:r>
            <a:endParaRPr sz="1100"/>
          </a:p>
          <a:p>
            <a:pPr indent="-120650" lvl="0" marL="114300" marR="0" rtl="0"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  <a:buClr>
                <a:srgbClr val="A9CFE8"/>
              </a:buClr>
              <a:buSzPts val="900"/>
              <a:buFont typeface="Arial"/>
              <a:buChar char="•"/>
            </a:pPr>
            <a:r>
              <a:rPr b="0" i="0" lang="en" sz="9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Validate both under the seen-versus-unseen protocol established here, with bootstrap intervals on every reported difference</a:t>
            </a:r>
            <a:endParaRPr sz="1100"/>
          </a:p>
        </p:txBody>
      </p:sp>
      <p:sp>
        <p:nvSpPr>
          <p:cNvPr id="671" name="Google Shape;671;p42"/>
          <p:cNvSpPr txBox="1"/>
          <p:nvPr/>
        </p:nvSpPr>
        <p:spPr>
          <a:xfrm>
            <a:off x="425198" y="3826764"/>
            <a:ext cx="8293619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ALREADY IMPLEMENTED, AWAITING COMPUTE BUDGET</a:t>
            </a:r>
            <a:endParaRPr sz="1100"/>
          </a:p>
        </p:txBody>
      </p:sp>
      <p:sp>
        <p:nvSpPr>
          <p:cNvPr id="672" name="Google Shape;672;p42"/>
          <p:cNvSpPr/>
          <p:nvPr/>
        </p:nvSpPr>
        <p:spPr>
          <a:xfrm>
            <a:off x="425198" y="4046220"/>
            <a:ext cx="2636523" cy="1097280"/>
          </a:xfrm>
          <a:prstGeom prst="roundRect">
            <a:avLst>
              <a:gd fmla="val 6874" name="adj"/>
            </a:avLst>
          </a:prstGeom>
          <a:solidFill>
            <a:srgbClr val="F6FA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42"/>
          <p:cNvSpPr txBox="1"/>
          <p:nvPr/>
        </p:nvSpPr>
        <p:spPr>
          <a:xfrm>
            <a:off x="576074" y="4155948"/>
            <a:ext cx="2334769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An explicit concentration term</a:t>
            </a:r>
            <a:endParaRPr sz="1100"/>
          </a:p>
        </p:txBody>
      </p:sp>
      <p:sp>
        <p:nvSpPr>
          <p:cNvPr id="674" name="Google Shape;674;p42"/>
          <p:cNvSpPr txBox="1"/>
          <p:nvPr/>
        </p:nvSpPr>
        <p:spPr>
          <a:xfrm>
            <a:off x="576074" y="4375404"/>
            <a:ext cx="233476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Our Grad-CAM regulariser was null because it constrains WHERE attention sits but not HOW concentrated it is. Adding a concentration penalty to the same objective is the obvious follow-up. Implemented; not yet run.</a:t>
            </a:r>
            <a:endParaRPr sz="1100"/>
          </a:p>
        </p:txBody>
      </p:sp>
      <p:sp>
        <p:nvSpPr>
          <p:cNvPr id="675" name="Google Shape;675;p42"/>
          <p:cNvSpPr/>
          <p:nvPr/>
        </p:nvSpPr>
        <p:spPr>
          <a:xfrm>
            <a:off x="3253745" y="4046220"/>
            <a:ext cx="2636523" cy="1097280"/>
          </a:xfrm>
          <a:prstGeom prst="roundRect">
            <a:avLst>
              <a:gd fmla="val 6874" name="adj"/>
            </a:avLst>
          </a:prstGeom>
          <a:solidFill>
            <a:srgbClr val="F6FA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42"/>
          <p:cNvSpPr txBox="1"/>
          <p:nvPr/>
        </p:nvSpPr>
        <p:spPr>
          <a:xfrm>
            <a:off x="3404622" y="4155948"/>
            <a:ext cx="2334769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A composited diffusion probe</a:t>
            </a:r>
            <a:endParaRPr sz="1100"/>
          </a:p>
        </p:txBody>
      </p:sp>
      <p:sp>
        <p:nvSpPr>
          <p:cNvPr id="677" name="Google Shape;677;p42"/>
          <p:cNvSpPr txBox="1"/>
          <p:nvPr/>
        </p:nvSpPr>
        <p:spPr>
          <a:xfrm>
            <a:off x="3404622" y="4375404"/>
            <a:ext cx="233476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Our inpainting pipeline decodes the whole latent, so smoothing extends beyond the edited region. Compositing the unedited pixels back separates the generator's rendering from its manipulation.</a:t>
            </a:r>
            <a:endParaRPr sz="1100"/>
          </a:p>
        </p:txBody>
      </p:sp>
      <p:sp>
        <p:nvSpPr>
          <p:cNvPr id="678" name="Google Shape;678;p42"/>
          <p:cNvSpPr/>
          <p:nvPr/>
        </p:nvSpPr>
        <p:spPr>
          <a:xfrm>
            <a:off x="6082293" y="4046220"/>
            <a:ext cx="2636523" cy="1097280"/>
          </a:xfrm>
          <a:prstGeom prst="roundRect">
            <a:avLst>
              <a:gd fmla="val 6874" name="adj"/>
            </a:avLst>
          </a:prstGeom>
          <a:solidFill>
            <a:srgbClr val="F6FA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42"/>
          <p:cNvSpPr txBox="1"/>
          <p:nvPr/>
        </p:nvSpPr>
        <p:spPr>
          <a:xfrm>
            <a:off x="6233170" y="4155948"/>
            <a:ext cx="2334769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The engineering result we keep</a:t>
            </a:r>
            <a:endParaRPr sz="1100"/>
          </a:p>
        </p:txBody>
      </p:sp>
      <p:sp>
        <p:nvSpPr>
          <p:cNvPr id="680" name="Google Shape;680;p42"/>
          <p:cNvSpPr txBox="1"/>
          <p:nvPr/>
        </p:nvSpPr>
        <p:spPr>
          <a:xfrm>
            <a:off x="6233170" y="4375404"/>
            <a:ext cx="233476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A diversity-balanced frame budget matched the leave-one-out reference on 31% of the training images. Every 499B experiment will use it, which is why rows 3–5 above train in under two hours.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43"/>
          <p:cNvSpPr txBox="1"/>
          <p:nvPr/>
        </p:nvSpPr>
        <p:spPr>
          <a:xfrm>
            <a:off x="425198" y="4855464"/>
            <a:ext cx="622021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Cross-Dataset Generalization and Robustness of Deepfake Detection</a:t>
            </a:r>
            <a:endParaRPr sz="1100"/>
          </a:p>
        </p:txBody>
      </p:sp>
      <p:sp>
        <p:nvSpPr>
          <p:cNvPr id="687" name="Google Shape;687;p43"/>
          <p:cNvSpPr txBox="1"/>
          <p:nvPr/>
        </p:nvSpPr>
        <p:spPr>
          <a:xfrm>
            <a:off x="7758693" y="4855464"/>
            <a:ext cx="9601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19 / 19</a:t>
            </a:r>
            <a:endParaRPr sz="1100"/>
          </a:p>
        </p:txBody>
      </p:sp>
      <p:sp>
        <p:nvSpPr>
          <p:cNvPr id="688" name="Google Shape;688;p43"/>
          <p:cNvSpPr txBox="1"/>
          <p:nvPr/>
        </p:nvSpPr>
        <p:spPr>
          <a:xfrm>
            <a:off x="425198" y="315468"/>
            <a:ext cx="829361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1100"/>
          </a:p>
        </p:txBody>
      </p:sp>
      <p:sp>
        <p:nvSpPr>
          <p:cNvPr id="689" name="Google Shape;689;p43"/>
          <p:cNvSpPr txBox="1"/>
          <p:nvPr/>
        </p:nvSpPr>
        <p:spPr>
          <a:xfrm>
            <a:off x="425198" y="521208"/>
            <a:ext cx="8293619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solidFill>
                  <a:srgbClr val="1C2B36"/>
                </a:solidFill>
                <a:latin typeface="Cambria"/>
                <a:ea typeface="Cambria"/>
                <a:cs typeface="Cambria"/>
                <a:sym typeface="Cambria"/>
              </a:rPr>
              <a:t>References and acknowledgement</a:t>
            </a:r>
            <a:endParaRPr sz="1100"/>
          </a:p>
        </p:txBody>
      </p:sp>
      <p:sp>
        <p:nvSpPr>
          <p:cNvPr id="690" name="Google Shape;690;p43"/>
          <p:cNvSpPr txBox="1"/>
          <p:nvPr/>
        </p:nvSpPr>
        <p:spPr>
          <a:xfrm>
            <a:off x="425198" y="1001268"/>
            <a:ext cx="24688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[1]</a:t>
            </a:r>
            <a:endParaRPr sz="1100"/>
          </a:p>
        </p:txBody>
      </p:sp>
      <p:sp>
        <p:nvSpPr>
          <p:cNvPr id="691" name="Google Shape;691;p43"/>
          <p:cNvSpPr txBox="1"/>
          <p:nvPr/>
        </p:nvSpPr>
        <p:spPr>
          <a:xfrm>
            <a:off x="672087" y="1001268"/>
            <a:ext cx="3783334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Y. Li, X. Yang, P. Sun, H. Qi, and S. Lyu, “Celeb-DF: A large-scale challenging dataset for DeepFake forensics,” CVPR, 2020, pp. 3204–3213.</a:t>
            </a:r>
            <a:endParaRPr sz="1100"/>
          </a:p>
        </p:txBody>
      </p:sp>
      <p:sp>
        <p:nvSpPr>
          <p:cNvPr id="692" name="Google Shape;692;p43"/>
          <p:cNvSpPr txBox="1"/>
          <p:nvPr/>
        </p:nvSpPr>
        <p:spPr>
          <a:xfrm>
            <a:off x="425198" y="1327023"/>
            <a:ext cx="24688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[2]</a:t>
            </a:r>
            <a:endParaRPr sz="1100"/>
          </a:p>
        </p:txBody>
      </p:sp>
      <p:sp>
        <p:nvSpPr>
          <p:cNvPr id="693" name="Google Shape;693;p43"/>
          <p:cNvSpPr txBox="1"/>
          <p:nvPr/>
        </p:nvSpPr>
        <p:spPr>
          <a:xfrm>
            <a:off x="672087" y="1327023"/>
            <a:ext cx="3783334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A. Rössler, D. Cozzolino, L. Verdoliva, C. Riess, J. Thies, and M. Nießner, “FaceForensics++: Learning to detect manipulated facial images,” ICCV, 2019, pp. 1–11.</a:t>
            </a:r>
            <a:endParaRPr sz="1100"/>
          </a:p>
        </p:txBody>
      </p:sp>
      <p:sp>
        <p:nvSpPr>
          <p:cNvPr id="694" name="Google Shape;694;p43"/>
          <p:cNvSpPr txBox="1"/>
          <p:nvPr/>
        </p:nvSpPr>
        <p:spPr>
          <a:xfrm>
            <a:off x="425198" y="1652778"/>
            <a:ext cx="24688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[3]</a:t>
            </a:r>
            <a:endParaRPr sz="1100"/>
          </a:p>
        </p:txBody>
      </p:sp>
      <p:sp>
        <p:nvSpPr>
          <p:cNvPr id="695" name="Google Shape;695;p43"/>
          <p:cNvSpPr txBox="1"/>
          <p:nvPr/>
        </p:nvSpPr>
        <p:spPr>
          <a:xfrm>
            <a:off x="672087" y="1652778"/>
            <a:ext cx="3783334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B. Dolhansky et al., “The DeepFake Detection Challenge (DFDC) dataset,” arXiv:2006.07397, 2020.</a:t>
            </a:r>
            <a:endParaRPr sz="1100"/>
          </a:p>
        </p:txBody>
      </p:sp>
      <p:sp>
        <p:nvSpPr>
          <p:cNvPr id="696" name="Google Shape;696;p43"/>
          <p:cNvSpPr txBox="1"/>
          <p:nvPr/>
        </p:nvSpPr>
        <p:spPr>
          <a:xfrm>
            <a:off x="425198" y="1978533"/>
            <a:ext cx="24688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[4]</a:t>
            </a:r>
            <a:endParaRPr sz="1100"/>
          </a:p>
        </p:txBody>
      </p:sp>
      <p:sp>
        <p:nvSpPr>
          <p:cNvPr id="697" name="Google Shape;697;p43"/>
          <p:cNvSpPr txBox="1"/>
          <p:nvPr/>
        </p:nvSpPr>
        <p:spPr>
          <a:xfrm>
            <a:off x="672087" y="1978533"/>
            <a:ext cx="3783334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F. Chollet, “Xception: Deep learning with depthwise separable convolutions,” CVPR, 2017, pp. 1251–1258.</a:t>
            </a:r>
            <a:endParaRPr sz="1100"/>
          </a:p>
        </p:txBody>
      </p:sp>
      <p:sp>
        <p:nvSpPr>
          <p:cNvPr id="698" name="Google Shape;698;p43"/>
          <p:cNvSpPr txBox="1"/>
          <p:nvPr/>
        </p:nvSpPr>
        <p:spPr>
          <a:xfrm>
            <a:off x="425198" y="2304288"/>
            <a:ext cx="24688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[5]</a:t>
            </a:r>
            <a:endParaRPr sz="1100"/>
          </a:p>
        </p:txBody>
      </p:sp>
      <p:sp>
        <p:nvSpPr>
          <p:cNvPr id="699" name="Google Shape;699;p43"/>
          <p:cNvSpPr txBox="1"/>
          <p:nvPr/>
        </p:nvSpPr>
        <p:spPr>
          <a:xfrm>
            <a:off x="672087" y="2304288"/>
            <a:ext cx="3783334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Y. Qian, G. Yin, L. Sheng, Z. Chen, and J. Shao, “Thinking in frequency: Face forgery detection by mining frequency-aware clues,” ECCV, 2020, pp. 86–103.</a:t>
            </a:r>
            <a:endParaRPr sz="1100"/>
          </a:p>
        </p:txBody>
      </p:sp>
      <p:sp>
        <p:nvSpPr>
          <p:cNvPr id="700" name="Google Shape;700;p43"/>
          <p:cNvSpPr txBox="1"/>
          <p:nvPr/>
        </p:nvSpPr>
        <p:spPr>
          <a:xfrm>
            <a:off x="425198" y="2630043"/>
            <a:ext cx="24688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[6]</a:t>
            </a:r>
            <a:endParaRPr sz="1100"/>
          </a:p>
        </p:txBody>
      </p:sp>
      <p:sp>
        <p:nvSpPr>
          <p:cNvPr id="701" name="Google Shape;701;p43"/>
          <p:cNvSpPr txBox="1"/>
          <p:nvPr/>
        </p:nvSpPr>
        <p:spPr>
          <a:xfrm>
            <a:off x="672087" y="2630043"/>
            <a:ext cx="3783334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A. Haliassos, K. Vougioukas, S. Petridis, and M. Pantic, “Lips don’t lie: A generalisable and robust approach to face forgery detection,” CVPR, 2021, pp. 5039–5049.</a:t>
            </a:r>
            <a:endParaRPr sz="1100"/>
          </a:p>
        </p:txBody>
      </p:sp>
      <p:sp>
        <p:nvSpPr>
          <p:cNvPr id="702" name="Google Shape;702;p43"/>
          <p:cNvSpPr txBox="1"/>
          <p:nvPr/>
        </p:nvSpPr>
        <p:spPr>
          <a:xfrm>
            <a:off x="425198" y="2955797"/>
            <a:ext cx="24688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[7]</a:t>
            </a:r>
            <a:endParaRPr sz="1100"/>
          </a:p>
        </p:txBody>
      </p:sp>
      <p:sp>
        <p:nvSpPr>
          <p:cNvPr id="703" name="Google Shape;703;p43"/>
          <p:cNvSpPr txBox="1"/>
          <p:nvPr/>
        </p:nvSpPr>
        <p:spPr>
          <a:xfrm>
            <a:off x="672087" y="2955797"/>
            <a:ext cx="3783334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K. Shiohara and T. Yamasaki, “Detecting deepfakes with self-blended images,” CVPR, 2022, pp. 18 720–18 729.</a:t>
            </a:r>
            <a:endParaRPr sz="1100"/>
          </a:p>
        </p:txBody>
      </p:sp>
      <p:sp>
        <p:nvSpPr>
          <p:cNvPr id="704" name="Google Shape;704;p43"/>
          <p:cNvSpPr txBox="1"/>
          <p:nvPr/>
        </p:nvSpPr>
        <p:spPr>
          <a:xfrm>
            <a:off x="425198" y="3281553"/>
            <a:ext cx="24688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[8]</a:t>
            </a:r>
            <a:endParaRPr sz="1100"/>
          </a:p>
        </p:txBody>
      </p:sp>
      <p:sp>
        <p:nvSpPr>
          <p:cNvPr id="705" name="Google Shape;705;p43"/>
          <p:cNvSpPr txBox="1"/>
          <p:nvPr/>
        </p:nvSpPr>
        <p:spPr>
          <a:xfrm>
            <a:off x="672087" y="3281553"/>
            <a:ext cx="3783334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Z. Yan, Y. Zhang, X. Yuan, S. Lyu, and B. Wu, “DeepfakeBench: A comprehensive benchmark of deepfake detection,” NeurIPS Datasets and Benchmarks Track, 2023.</a:t>
            </a:r>
            <a:endParaRPr sz="1100"/>
          </a:p>
        </p:txBody>
      </p:sp>
      <p:sp>
        <p:nvSpPr>
          <p:cNvPr id="706" name="Google Shape;706;p43"/>
          <p:cNvSpPr txBox="1"/>
          <p:nvPr/>
        </p:nvSpPr>
        <p:spPr>
          <a:xfrm>
            <a:off x="425198" y="3607308"/>
            <a:ext cx="24688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[9]</a:t>
            </a:r>
            <a:endParaRPr sz="1100"/>
          </a:p>
        </p:txBody>
      </p:sp>
      <p:sp>
        <p:nvSpPr>
          <p:cNvPr id="707" name="Google Shape;707;p43"/>
          <p:cNvSpPr txBox="1"/>
          <p:nvPr/>
        </p:nvSpPr>
        <p:spPr>
          <a:xfrm>
            <a:off x="672087" y="3607308"/>
            <a:ext cx="3783334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D. Hendrycks and T. Dietterich, “Benchmarking neural network robustness to common corruptions and perturbations,” ICLR, 2019.</a:t>
            </a:r>
            <a:endParaRPr sz="1100"/>
          </a:p>
        </p:txBody>
      </p:sp>
      <p:sp>
        <p:nvSpPr>
          <p:cNvPr id="708" name="Google Shape;708;p43"/>
          <p:cNvSpPr txBox="1"/>
          <p:nvPr/>
        </p:nvSpPr>
        <p:spPr>
          <a:xfrm>
            <a:off x="4688593" y="1001268"/>
            <a:ext cx="24688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[10]</a:t>
            </a:r>
            <a:endParaRPr sz="1100"/>
          </a:p>
        </p:txBody>
      </p:sp>
      <p:sp>
        <p:nvSpPr>
          <p:cNvPr id="709" name="Google Shape;709;p43"/>
          <p:cNvSpPr txBox="1"/>
          <p:nvPr/>
        </p:nvSpPr>
        <p:spPr>
          <a:xfrm>
            <a:off x="4935482" y="1001268"/>
            <a:ext cx="3783334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M. Tan and Q. V. Le, “EfficientNet: Rethinking model scaling for convolutional neural networks,” ICML, PMLR vol. 97, 2019, pp. 6105–6114.</a:t>
            </a:r>
            <a:endParaRPr sz="1100"/>
          </a:p>
        </p:txBody>
      </p:sp>
      <p:sp>
        <p:nvSpPr>
          <p:cNvPr id="710" name="Google Shape;710;p43"/>
          <p:cNvSpPr txBox="1"/>
          <p:nvPr/>
        </p:nvSpPr>
        <p:spPr>
          <a:xfrm>
            <a:off x="4688593" y="1327023"/>
            <a:ext cx="24688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[11]</a:t>
            </a:r>
            <a:endParaRPr sz="1100"/>
          </a:p>
        </p:txBody>
      </p:sp>
      <p:sp>
        <p:nvSpPr>
          <p:cNvPr id="711" name="Google Shape;711;p43"/>
          <p:cNvSpPr txBox="1"/>
          <p:nvPr/>
        </p:nvSpPr>
        <p:spPr>
          <a:xfrm>
            <a:off x="4935482" y="1327023"/>
            <a:ext cx="3783334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R. R. Selvaraju, M. Cogswell, A. Das, R. Vedantam, D. Parikh, and D. Batra, “Grad-CAM: Visual explanations from deep networks via gradient-based localization,” ICCV, 2017, pp. 618–626.</a:t>
            </a:r>
            <a:endParaRPr sz="1100"/>
          </a:p>
        </p:txBody>
      </p:sp>
      <p:sp>
        <p:nvSpPr>
          <p:cNvPr id="712" name="Google Shape;712;p43"/>
          <p:cNvSpPr txBox="1"/>
          <p:nvPr/>
        </p:nvSpPr>
        <p:spPr>
          <a:xfrm>
            <a:off x="4688593" y="1652778"/>
            <a:ext cx="24688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[12]</a:t>
            </a:r>
            <a:endParaRPr sz="1100"/>
          </a:p>
        </p:txBody>
      </p:sp>
      <p:sp>
        <p:nvSpPr>
          <p:cNvPr id="713" name="Google Shape;713;p43"/>
          <p:cNvSpPr txBox="1"/>
          <p:nvPr/>
        </p:nvSpPr>
        <p:spPr>
          <a:xfrm>
            <a:off x="4935482" y="1652778"/>
            <a:ext cx="3783334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J. Hu, L. Shen, and G. Sun, “Squeeze-and-excitation networks,” CVPR, 2018, pp. 7132–7141.</a:t>
            </a:r>
            <a:endParaRPr sz="1100"/>
          </a:p>
        </p:txBody>
      </p:sp>
      <p:sp>
        <p:nvSpPr>
          <p:cNvPr id="714" name="Google Shape;714;p43"/>
          <p:cNvSpPr txBox="1"/>
          <p:nvPr/>
        </p:nvSpPr>
        <p:spPr>
          <a:xfrm>
            <a:off x="4688593" y="1978533"/>
            <a:ext cx="24688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[13]</a:t>
            </a:r>
            <a:endParaRPr sz="1100"/>
          </a:p>
        </p:txBody>
      </p:sp>
      <p:sp>
        <p:nvSpPr>
          <p:cNvPr id="715" name="Google Shape;715;p43"/>
          <p:cNvSpPr txBox="1"/>
          <p:nvPr/>
        </p:nvSpPr>
        <p:spPr>
          <a:xfrm>
            <a:off x="4935482" y="1978533"/>
            <a:ext cx="3783334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I. Loshchilov and F. Hutter, “Decoupled weight decay regularization,” ICLR, 2019.</a:t>
            </a:r>
            <a:endParaRPr sz="1100"/>
          </a:p>
        </p:txBody>
      </p:sp>
      <p:sp>
        <p:nvSpPr>
          <p:cNvPr id="716" name="Google Shape;716;p43"/>
          <p:cNvSpPr txBox="1"/>
          <p:nvPr/>
        </p:nvSpPr>
        <p:spPr>
          <a:xfrm>
            <a:off x="4688593" y="2304288"/>
            <a:ext cx="24688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[14]</a:t>
            </a:r>
            <a:endParaRPr sz="1100"/>
          </a:p>
        </p:txBody>
      </p:sp>
      <p:sp>
        <p:nvSpPr>
          <p:cNvPr id="717" name="Google Shape;717;p43"/>
          <p:cNvSpPr txBox="1"/>
          <p:nvPr/>
        </p:nvSpPr>
        <p:spPr>
          <a:xfrm>
            <a:off x="4935482" y="2304288"/>
            <a:ext cx="3783334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I. Loshchilov and F. Hutter, “SGDR: Stochastic gradient descent with warm restarts,” ICLR, 2017.</a:t>
            </a:r>
            <a:endParaRPr sz="1100"/>
          </a:p>
        </p:txBody>
      </p:sp>
      <p:sp>
        <p:nvSpPr>
          <p:cNvPr id="718" name="Google Shape;718;p43"/>
          <p:cNvSpPr txBox="1"/>
          <p:nvPr/>
        </p:nvSpPr>
        <p:spPr>
          <a:xfrm>
            <a:off x="4688593" y="2630043"/>
            <a:ext cx="24688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[15]</a:t>
            </a:r>
            <a:endParaRPr sz="1100"/>
          </a:p>
        </p:txBody>
      </p:sp>
      <p:sp>
        <p:nvSpPr>
          <p:cNvPr id="719" name="Google Shape;719;p43"/>
          <p:cNvSpPr txBox="1"/>
          <p:nvPr/>
        </p:nvSpPr>
        <p:spPr>
          <a:xfrm>
            <a:off x="4935482" y="2630043"/>
            <a:ext cx="3783334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B. Efron and R. J. Tibshirani, An Introduction to the Bootstrap. Chapman &amp; Hall/CRC, 1993.</a:t>
            </a:r>
            <a:endParaRPr sz="1100"/>
          </a:p>
        </p:txBody>
      </p:sp>
      <p:sp>
        <p:nvSpPr>
          <p:cNvPr id="720" name="Google Shape;720;p43"/>
          <p:cNvSpPr txBox="1"/>
          <p:nvPr/>
        </p:nvSpPr>
        <p:spPr>
          <a:xfrm>
            <a:off x="4688593" y="2955797"/>
            <a:ext cx="24688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[16]</a:t>
            </a:r>
            <a:endParaRPr sz="1100"/>
          </a:p>
        </p:txBody>
      </p:sp>
      <p:sp>
        <p:nvSpPr>
          <p:cNvPr id="721" name="Google Shape;721;p43"/>
          <p:cNvSpPr txBox="1"/>
          <p:nvPr/>
        </p:nvSpPr>
        <p:spPr>
          <a:xfrm>
            <a:off x="4935482" y="2955797"/>
            <a:ext cx="3783334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A. Paszke et al., “PyTorch: An imperative style, high-performance deep learning library,” NeurIPS, vol. 32, 2019, pp. 8026–8037.</a:t>
            </a:r>
            <a:endParaRPr sz="1100"/>
          </a:p>
        </p:txBody>
      </p:sp>
      <p:sp>
        <p:nvSpPr>
          <p:cNvPr id="722" name="Google Shape;722;p43"/>
          <p:cNvSpPr txBox="1"/>
          <p:nvPr/>
        </p:nvSpPr>
        <p:spPr>
          <a:xfrm>
            <a:off x="4688593" y="3281553"/>
            <a:ext cx="24688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[17]</a:t>
            </a:r>
            <a:endParaRPr sz="1100"/>
          </a:p>
        </p:txBody>
      </p:sp>
      <p:sp>
        <p:nvSpPr>
          <p:cNvPr id="723" name="Google Shape;723;p43"/>
          <p:cNvSpPr txBox="1"/>
          <p:nvPr/>
        </p:nvSpPr>
        <p:spPr>
          <a:xfrm>
            <a:off x="4935482" y="3281553"/>
            <a:ext cx="3783334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R. Wightman, “PyTorch image models (timm),” GitHub repository, 2019.</a:t>
            </a:r>
            <a:endParaRPr sz="1100"/>
          </a:p>
        </p:txBody>
      </p:sp>
      <p:sp>
        <p:nvSpPr>
          <p:cNvPr id="724" name="Google Shape;724;p43"/>
          <p:cNvSpPr txBox="1"/>
          <p:nvPr/>
        </p:nvSpPr>
        <p:spPr>
          <a:xfrm>
            <a:off x="4688593" y="3607308"/>
            <a:ext cx="24688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[18]</a:t>
            </a:r>
            <a:endParaRPr sz="1100"/>
          </a:p>
        </p:txBody>
      </p:sp>
      <p:sp>
        <p:nvSpPr>
          <p:cNvPr id="725" name="Google Shape;725;p43"/>
          <p:cNvSpPr txBox="1"/>
          <p:nvPr/>
        </p:nvSpPr>
        <p:spPr>
          <a:xfrm>
            <a:off x="4935482" y="3607308"/>
            <a:ext cx="3783334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H. Zhao, W. Zhou, D. Chen, T. Wei, W. Zhang, and N. Yu, “Multi-attentional deepfake detection,” CVPR, 2021, pp. 2185–2194.</a:t>
            </a:r>
            <a:endParaRPr sz="1100"/>
          </a:p>
        </p:txBody>
      </p:sp>
      <p:sp>
        <p:nvSpPr>
          <p:cNvPr id="726" name="Google Shape;726;p43"/>
          <p:cNvSpPr/>
          <p:nvPr/>
        </p:nvSpPr>
        <p:spPr>
          <a:xfrm>
            <a:off x="425198" y="3977640"/>
            <a:ext cx="8293619" cy="877824"/>
          </a:xfrm>
          <a:prstGeom prst="roundRect">
            <a:avLst>
              <a:gd fmla="val 8593" name="adj"/>
            </a:avLst>
          </a:prstGeom>
          <a:solidFill>
            <a:srgbClr val="ED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43"/>
          <p:cNvSpPr txBox="1"/>
          <p:nvPr/>
        </p:nvSpPr>
        <p:spPr>
          <a:xfrm>
            <a:off x="617223" y="4101084"/>
            <a:ext cx="7909569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E6F9E"/>
                </a:solidFill>
                <a:latin typeface="Calibri"/>
                <a:ea typeface="Calibri"/>
                <a:cs typeface="Calibri"/>
                <a:sym typeface="Calibri"/>
              </a:rPr>
              <a:t>ACKNOWLEDGEMENT</a:t>
            </a:r>
            <a:endParaRPr sz="1100"/>
          </a:p>
        </p:txBody>
      </p:sp>
      <p:sp>
        <p:nvSpPr>
          <p:cNvPr id="728" name="Google Shape;728;p43"/>
          <p:cNvSpPr txBox="1"/>
          <p:nvPr/>
        </p:nvSpPr>
        <p:spPr>
          <a:xfrm>
            <a:off x="617223" y="4320540"/>
            <a:ext cx="7909569" cy="452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Our largest debt is to our faculty advisor, </a:t>
            </a:r>
            <a:r>
              <a:rPr b="1" i="0" lang="en" sz="800" u="none" cap="none" strike="noStrike">
                <a:solidFill>
                  <a:srgbClr val="1C2B36"/>
                </a:solidFill>
                <a:latin typeface="Calibri"/>
                <a:ea typeface="Calibri"/>
                <a:cs typeface="Calibri"/>
                <a:sym typeface="Calibri"/>
              </a:rPr>
              <a:t>Dr. Riasat Khan</a:t>
            </a:r>
            <a:r>
              <a:rPr b="0" i="0" lang="en" sz="800" u="none" cap="none" strike="noStrike">
                <a:solidFill>
                  <a:srgbClr val="6E8290"/>
                </a:solidFill>
                <a:latin typeface="Calibri"/>
                <a:ea typeface="Calibri"/>
                <a:cs typeface="Calibri"/>
                <a:sym typeface="Calibri"/>
              </a:rPr>
              <a:t>, Department of Electrical and Computer Engineering, North South University. He pressed us to stop reporting accuracy within a single corpus and ask what survives when the data changes, and he insisted our splits be formed on subject identity rather than on frames — a correction that exposed a leak in an earlier measurement and changed a headline number. He was also the reason the negative results stayed in. We also thank the research groups behind FaceForensics++, Celeb-DF and DFDC for making their data publicly available.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